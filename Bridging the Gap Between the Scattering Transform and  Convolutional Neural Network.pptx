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9"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425050-635C-4815-826C-F9BDC31FB60E}" v="3" dt="2024-10-24T10:01:35.1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466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dan Sorin" userId="4dc017ba8de86561" providerId="LiveId" clId="{FA425050-635C-4815-826C-F9BDC31FB60E}"/>
    <pc:docChg chg="undo custSel modSld sldOrd">
      <pc:chgData name="Idan Sorin" userId="4dc017ba8de86561" providerId="LiveId" clId="{FA425050-635C-4815-826C-F9BDC31FB60E}" dt="2024-10-24T10:18:48.599" v="22" actId="20577"/>
      <pc:docMkLst>
        <pc:docMk/>
      </pc:docMkLst>
      <pc:sldChg chg="modAnim">
        <pc:chgData name="Idan Sorin" userId="4dc017ba8de86561" providerId="LiveId" clId="{FA425050-635C-4815-826C-F9BDC31FB60E}" dt="2024-10-24T10:01:35.166" v="18"/>
        <pc:sldMkLst>
          <pc:docMk/>
          <pc:sldMk cId="4044338574" sldId="256"/>
        </pc:sldMkLst>
      </pc:sldChg>
      <pc:sldChg chg="modSp mod">
        <pc:chgData name="Idan Sorin" userId="4dc017ba8de86561" providerId="LiveId" clId="{FA425050-635C-4815-826C-F9BDC31FB60E}" dt="2024-10-24T09:57:37.060" v="0" actId="20577"/>
        <pc:sldMkLst>
          <pc:docMk/>
          <pc:sldMk cId="864237269" sldId="260"/>
        </pc:sldMkLst>
        <pc:spChg chg="mod">
          <ac:chgData name="Idan Sorin" userId="4dc017ba8de86561" providerId="LiveId" clId="{FA425050-635C-4815-826C-F9BDC31FB60E}" dt="2024-10-24T09:57:37.060" v="0" actId="20577"/>
          <ac:spMkLst>
            <pc:docMk/>
            <pc:sldMk cId="864237269" sldId="260"/>
            <ac:spMk id="3" creationId="{51B4103B-BD44-65E7-3444-4524A6DD95C1}"/>
          </ac:spMkLst>
        </pc:spChg>
      </pc:sldChg>
      <pc:sldChg chg="ord">
        <pc:chgData name="Idan Sorin" userId="4dc017ba8de86561" providerId="LiveId" clId="{FA425050-635C-4815-826C-F9BDC31FB60E}" dt="2024-10-24T09:57:56.020" v="2"/>
        <pc:sldMkLst>
          <pc:docMk/>
          <pc:sldMk cId="3187782666" sldId="261"/>
        </pc:sldMkLst>
      </pc:sldChg>
      <pc:sldChg chg="modSp mod">
        <pc:chgData name="Idan Sorin" userId="4dc017ba8de86561" providerId="LiveId" clId="{FA425050-635C-4815-826C-F9BDC31FB60E}" dt="2024-10-24T09:58:43.271" v="8" actId="20577"/>
        <pc:sldMkLst>
          <pc:docMk/>
          <pc:sldMk cId="2490780271" sldId="263"/>
        </pc:sldMkLst>
        <pc:spChg chg="mod">
          <ac:chgData name="Idan Sorin" userId="4dc017ba8de86561" providerId="LiveId" clId="{FA425050-635C-4815-826C-F9BDC31FB60E}" dt="2024-10-24T09:58:43.271" v="8" actId="20577"/>
          <ac:spMkLst>
            <pc:docMk/>
            <pc:sldMk cId="2490780271" sldId="263"/>
            <ac:spMk id="26" creationId="{2E15ECD5-7DD6-CC40-4914-C0C6B3BF322F}"/>
          </ac:spMkLst>
        </pc:spChg>
      </pc:sldChg>
      <pc:sldChg chg="modSp mod">
        <pc:chgData name="Idan Sorin" userId="4dc017ba8de86561" providerId="LiveId" clId="{FA425050-635C-4815-826C-F9BDC31FB60E}" dt="2024-10-24T09:59:03.642" v="11" actId="20577"/>
        <pc:sldMkLst>
          <pc:docMk/>
          <pc:sldMk cId="1586950217" sldId="264"/>
        </pc:sldMkLst>
        <pc:spChg chg="mod">
          <ac:chgData name="Idan Sorin" userId="4dc017ba8de86561" providerId="LiveId" clId="{FA425050-635C-4815-826C-F9BDC31FB60E}" dt="2024-10-24T09:59:03.642" v="11" actId="20577"/>
          <ac:spMkLst>
            <pc:docMk/>
            <pc:sldMk cId="1586950217" sldId="264"/>
            <ac:spMk id="3" creationId="{443F8684-2E5D-67DA-9D94-9D25A28C044F}"/>
          </ac:spMkLst>
        </pc:spChg>
      </pc:sldChg>
      <pc:sldChg chg="modSp mod">
        <pc:chgData name="Idan Sorin" userId="4dc017ba8de86561" providerId="LiveId" clId="{FA425050-635C-4815-826C-F9BDC31FB60E}" dt="2024-10-24T10:18:48.599" v="22" actId="20577"/>
        <pc:sldMkLst>
          <pc:docMk/>
          <pc:sldMk cId="4057209083" sldId="265"/>
        </pc:sldMkLst>
        <pc:spChg chg="mod">
          <ac:chgData name="Idan Sorin" userId="4dc017ba8de86561" providerId="LiveId" clId="{FA425050-635C-4815-826C-F9BDC31FB60E}" dt="2024-10-24T10:00:38.090" v="16" actId="1076"/>
          <ac:spMkLst>
            <pc:docMk/>
            <pc:sldMk cId="4057209083" sldId="265"/>
            <ac:spMk id="2" creationId="{7B2A9795-9B53-4B59-8E67-86983721FF33}"/>
          </ac:spMkLst>
        </pc:spChg>
        <pc:spChg chg="mod">
          <ac:chgData name="Idan Sorin" userId="4dc017ba8de86561" providerId="LiveId" clId="{FA425050-635C-4815-826C-F9BDC31FB60E}" dt="2024-10-24T10:18:48.599" v="22" actId="20577"/>
          <ac:spMkLst>
            <pc:docMk/>
            <pc:sldMk cId="4057209083" sldId="265"/>
            <ac:spMk id="3" creationId="{0FA52A4C-7BBC-F860-A0A2-00744300D032}"/>
          </ac:spMkLst>
        </pc:spChg>
      </pc:sldChg>
      <pc:sldChg chg="modSp mod">
        <pc:chgData name="Idan Sorin" userId="4dc017ba8de86561" providerId="LiveId" clId="{FA425050-635C-4815-826C-F9BDC31FB60E}" dt="2024-10-24T10:00:50.818" v="17" actId="14100"/>
        <pc:sldMkLst>
          <pc:docMk/>
          <pc:sldMk cId="3686654303" sldId="266"/>
        </pc:sldMkLst>
        <pc:spChg chg="mod">
          <ac:chgData name="Idan Sorin" userId="4dc017ba8de86561" providerId="LiveId" clId="{FA425050-635C-4815-826C-F9BDC31FB60E}" dt="2024-10-24T10:00:50.818" v="17" actId="14100"/>
          <ac:spMkLst>
            <pc:docMk/>
            <pc:sldMk cId="3686654303" sldId="266"/>
            <ac:spMk id="3" creationId="{B50CA1A3-FA3C-7438-D867-EC8C5AC2279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2196098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3"/>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146328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1499071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1238123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331717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7" name="Date Placeholder 2"/>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3"/>
          <p:cNvSpPr>
            <a:spLocks noGrp="1"/>
          </p:cNvSpPr>
          <p:nvPr>
            <p:ph type="ftr" sz="quarter" idx="11"/>
          </p:nvPr>
        </p:nvSpPr>
        <p:spPr/>
        <p:txBody>
          <a:bodyPr/>
          <a:lstStyle/>
          <a:p>
            <a:endParaRPr lang="he-IL"/>
          </a:p>
        </p:txBody>
      </p:sp>
      <p:sp>
        <p:nvSpPr>
          <p:cNvPr id="6" name="Slide Number Placeholder 4"/>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1810068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2"/>
          <p:cNvSpPr>
            <a:spLocks noGrp="1"/>
          </p:cNvSpPr>
          <p:nvPr>
            <p:ph type="ftr" sz="quarter" idx="11"/>
          </p:nvPr>
        </p:nvSpPr>
        <p:spPr/>
        <p:txBody>
          <a:bodyPr/>
          <a:lstStyle/>
          <a:p>
            <a:endParaRPr lang="he-IL"/>
          </a:p>
        </p:txBody>
      </p:sp>
      <p:sp>
        <p:nvSpPr>
          <p:cNvPr id="6" name="Slide Number Placeholder 3"/>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3099705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7" name="Date Placeholder 4"/>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5"/>
          <p:cNvSpPr>
            <a:spLocks noGrp="1"/>
          </p:cNvSpPr>
          <p:nvPr>
            <p:ph type="ftr" sz="quarter" idx="11"/>
          </p:nvPr>
        </p:nvSpPr>
        <p:spPr/>
        <p:txBody>
          <a:bodyPr/>
          <a:lstStyle/>
          <a:p>
            <a:endParaRPr lang="he-IL"/>
          </a:p>
        </p:txBody>
      </p:sp>
      <p:sp>
        <p:nvSpPr>
          <p:cNvPr id="6" name="Slide Number Placeholder 6"/>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2258458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161208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1929901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he-IL"/>
              <a:t>לחץ כדי לערוך סגנון כותרת של תבנית בסיס</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38827669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he-IL"/>
              <a:t>לחץ כדי לערוך סגנון כותרת של תבנית בסיס</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he-IL"/>
              <a:t>לחץ כדי לערוך סגנונות טקסט של תבנית בסיס</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52E9D09-A2E1-4F5F-8C20-14255B9E8365}" type="slidenum">
              <a:rPr lang="he-IL" smtClean="0"/>
              <a:t>‹#›</a:t>
            </a:fld>
            <a:endParaRPr lang="he-IL"/>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93850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3330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עמודו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4"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4152808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עמודת 3 תמונו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4"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1481896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nchorCtr="0"/>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3533607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0AAA2FC5-14E3-467C-9364-17B80090118F}" type="datetimeFigureOut">
              <a:rPr lang="he-IL" smtClean="0"/>
              <a:t>כ"ד/תשרי/תשפ"ה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B52E9D09-A2E1-4F5F-8C20-14255B9E8365}" type="slidenum">
              <a:rPr lang="he-IL" smtClean="0"/>
              <a:t>‹#›</a:t>
            </a:fld>
            <a:endParaRPr lang="he-IL"/>
          </a:p>
        </p:txBody>
      </p:sp>
    </p:spTree>
    <p:extLst>
      <p:ext uri="{BB962C8B-B14F-4D97-AF65-F5344CB8AC3E}">
        <p14:creationId xmlns:p14="http://schemas.microsoft.com/office/powerpoint/2010/main" val="4132148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AAA2FC5-14E3-467C-9364-17B80090118F}" type="datetimeFigureOut">
              <a:rPr lang="he-IL" smtClean="0"/>
              <a:t>כ"ד/תשרי/תשפ"ה</a:t>
            </a:fld>
            <a:endParaRPr lang="he-IL"/>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he-IL"/>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52E9D09-A2E1-4F5F-8C20-14255B9E8365}" type="slidenum">
              <a:rPr lang="he-IL" smtClean="0"/>
              <a:t>‹#›</a:t>
            </a:fld>
            <a:endParaRPr lang="he-IL"/>
          </a:p>
        </p:txBody>
      </p:sp>
    </p:spTree>
    <p:extLst>
      <p:ext uri="{BB962C8B-B14F-4D97-AF65-F5344CB8AC3E}">
        <p14:creationId xmlns:p14="http://schemas.microsoft.com/office/powerpoint/2010/main" val="258221339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1" eaLnBrk="1" latinLnBrk="0" hangingPunct="1">
        <a:spcBef>
          <a:spcPct val="0"/>
        </a:spcBef>
        <a:buNone/>
        <a:defRPr sz="4200" b="0" i="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 name="Picture 4" descr="Grey 3D art">
            <a:extLst>
              <a:ext uri="{FF2B5EF4-FFF2-40B4-BE49-F238E27FC236}">
                <a16:creationId xmlns:a16="http://schemas.microsoft.com/office/drawing/2014/main" id="{ABDFF181-9D4F-EDB6-CDE3-05E1C08176E4}"/>
              </a:ext>
            </a:extLst>
          </p:cNvPr>
          <p:cNvPicPr>
            <a:picLocks noChangeAspect="1"/>
          </p:cNvPicPr>
          <p:nvPr/>
        </p:nvPicPr>
        <p:blipFill>
          <a:blip r:embed="rId3">
            <a:duotone>
              <a:prstClr val="black"/>
              <a:schemeClr val="accent5">
                <a:tint val="45000"/>
                <a:satMod val="400000"/>
              </a:schemeClr>
            </a:duotone>
            <a:alphaModFix amt="25000"/>
          </a:blip>
          <a:srcRect t="17849" r="9091" b="4671"/>
          <a:stretch/>
        </p:blipFill>
        <p:spPr>
          <a:xfrm>
            <a:off x="20" y="10"/>
            <a:ext cx="12191980" cy="6857990"/>
          </a:xfrm>
          <a:prstGeom prst="rect">
            <a:avLst/>
          </a:prstGeom>
        </p:spPr>
      </p:pic>
      <p:sp>
        <p:nvSpPr>
          <p:cNvPr id="2" name="כותרת 1">
            <a:extLst>
              <a:ext uri="{FF2B5EF4-FFF2-40B4-BE49-F238E27FC236}">
                <a16:creationId xmlns:a16="http://schemas.microsoft.com/office/drawing/2014/main" id="{14DC8882-1BEA-B783-5DD5-6D2C99E48B6D}"/>
              </a:ext>
            </a:extLst>
          </p:cNvPr>
          <p:cNvSpPr>
            <a:spLocks noGrp="1"/>
          </p:cNvSpPr>
          <p:nvPr>
            <p:ph type="ctrTitle"/>
          </p:nvPr>
        </p:nvSpPr>
        <p:spPr>
          <a:xfrm>
            <a:off x="1154955" y="1447800"/>
            <a:ext cx="8825658" cy="3329581"/>
          </a:xfrm>
        </p:spPr>
        <p:txBody>
          <a:bodyPr>
            <a:normAutofit/>
          </a:bodyPr>
          <a:lstStyle/>
          <a:p>
            <a:pPr>
              <a:lnSpc>
                <a:spcPct val="90000"/>
              </a:lnSpc>
            </a:pPr>
            <a:r>
              <a:rPr lang="en-US" sz="5600" dirty="0"/>
              <a:t>Bridging the Gap Between the Scattering Transform and Trainable CNNs</a:t>
            </a:r>
            <a:endParaRPr lang="he-IL" sz="5600" b="1" dirty="0"/>
          </a:p>
        </p:txBody>
      </p:sp>
      <p:sp>
        <p:nvSpPr>
          <p:cNvPr id="3" name="כותרת משנה 2">
            <a:extLst>
              <a:ext uri="{FF2B5EF4-FFF2-40B4-BE49-F238E27FC236}">
                <a16:creationId xmlns:a16="http://schemas.microsoft.com/office/drawing/2014/main" id="{410290A4-7C70-5745-14F3-DB902CFC6E6D}"/>
              </a:ext>
            </a:extLst>
          </p:cNvPr>
          <p:cNvSpPr>
            <a:spLocks noGrp="1"/>
          </p:cNvSpPr>
          <p:nvPr>
            <p:ph type="subTitle" idx="1"/>
          </p:nvPr>
        </p:nvSpPr>
        <p:spPr>
          <a:xfrm>
            <a:off x="1154955" y="4777380"/>
            <a:ext cx="8825658" cy="861420"/>
          </a:xfrm>
        </p:spPr>
        <p:txBody>
          <a:bodyPr>
            <a:normAutofit/>
          </a:bodyPr>
          <a:lstStyle/>
          <a:p>
            <a:r>
              <a:rPr lang="en-US" b="1" dirty="0" err="1"/>
              <a:t>Yaaqov</a:t>
            </a:r>
            <a:r>
              <a:rPr lang="en-US" b="1" dirty="0"/>
              <a:t> Mishayev</a:t>
            </a:r>
          </a:p>
          <a:p>
            <a:r>
              <a:rPr lang="en-US" b="1" dirty="0"/>
              <a:t>Idan </a:t>
            </a:r>
            <a:r>
              <a:rPr lang="en-US" b="1" dirty="0" err="1"/>
              <a:t>sorin</a:t>
            </a:r>
            <a:endParaRPr lang="he-IL" b="1" dirty="0"/>
          </a:p>
        </p:txBody>
      </p:sp>
      <p:sp>
        <p:nvSpPr>
          <p:cNvPr id="16" name="Rectangle 15">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e-IL"/>
          </a:p>
        </p:txBody>
      </p:sp>
    </p:spTree>
    <p:extLst>
      <p:ext uri="{BB962C8B-B14F-4D97-AF65-F5344CB8AC3E}">
        <p14:creationId xmlns:p14="http://schemas.microsoft.com/office/powerpoint/2010/main" val="404433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2">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9B40AE7E-F202-E59D-73F2-F10CD8AD4359}"/>
              </a:ext>
            </a:extLst>
          </p:cNvPr>
          <p:cNvSpPr>
            <a:spLocks noGrp="1"/>
          </p:cNvSpPr>
          <p:nvPr>
            <p:ph type="title"/>
          </p:nvPr>
        </p:nvSpPr>
        <p:spPr>
          <a:xfrm>
            <a:off x="648931" y="629266"/>
            <a:ext cx="4166510" cy="1622321"/>
          </a:xfrm>
        </p:spPr>
        <p:txBody>
          <a:bodyPr>
            <a:normAutofit/>
          </a:bodyPr>
          <a:lstStyle/>
          <a:p>
            <a:pPr>
              <a:lnSpc>
                <a:spcPct val="90000"/>
              </a:lnSpc>
            </a:pPr>
            <a:r>
              <a:rPr lang="en-US" sz="3300" b="1">
                <a:solidFill>
                  <a:srgbClr val="EBEBEB"/>
                </a:solidFill>
              </a:rPr>
              <a:t>Wavelet scattering transform and why</a:t>
            </a:r>
            <a:endParaRPr lang="he-IL" sz="3300" b="1">
              <a:solidFill>
                <a:srgbClr val="EBEBEB"/>
              </a:solidFill>
            </a:endParaRPr>
          </a:p>
        </p:txBody>
      </p:sp>
      <p:sp>
        <p:nvSpPr>
          <p:cNvPr id="25"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he-IL"/>
          </a:p>
        </p:txBody>
      </p:sp>
      <p:pic>
        <p:nvPicPr>
          <p:cNvPr id="7" name="תמונה 6" descr="תמונה שמכילה טקסט, תרשים, קו, צילום מסך&#10;&#10;התיאור נוצר באופן אוטומטי">
            <a:extLst>
              <a:ext uri="{FF2B5EF4-FFF2-40B4-BE49-F238E27FC236}">
                <a16:creationId xmlns:a16="http://schemas.microsoft.com/office/drawing/2014/main" id="{5CC3400F-8BE9-7836-E509-C82EF67CB966}"/>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3992" y="2018840"/>
            <a:ext cx="5449889" cy="2820317"/>
          </a:xfrm>
          <a:prstGeom prst="rect">
            <a:avLst/>
          </a:prstGeom>
          <a:effectLst/>
        </p:spPr>
      </p:pic>
      <p:sp>
        <p:nvSpPr>
          <p:cNvPr id="29" name="Rectangle 28">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e-IL"/>
          </a:p>
        </p:txBody>
      </p:sp>
      <p:sp>
        <p:nvSpPr>
          <p:cNvPr id="3" name="מציין מיקום תוכן 2">
            <a:extLst>
              <a:ext uri="{FF2B5EF4-FFF2-40B4-BE49-F238E27FC236}">
                <a16:creationId xmlns:a16="http://schemas.microsoft.com/office/drawing/2014/main" id="{FA573F4C-1C04-FEB4-FBAB-C2E5CBD3FD50}"/>
              </a:ext>
            </a:extLst>
          </p:cNvPr>
          <p:cNvSpPr>
            <a:spLocks noGrp="1"/>
          </p:cNvSpPr>
          <p:nvPr>
            <p:ph idx="1"/>
          </p:nvPr>
        </p:nvSpPr>
        <p:spPr>
          <a:xfrm>
            <a:off x="648931" y="2438400"/>
            <a:ext cx="4166509" cy="3785419"/>
          </a:xfrm>
        </p:spPr>
        <p:txBody>
          <a:bodyPr>
            <a:normAutofit/>
          </a:bodyPr>
          <a:lstStyle/>
          <a:p>
            <a:pPr>
              <a:lnSpc>
                <a:spcPct val="90000"/>
              </a:lnSpc>
            </a:pPr>
            <a:r>
              <a:rPr lang="en-US" sz="1100" b="1">
                <a:solidFill>
                  <a:srgbClr val="EBEBEB"/>
                </a:solidFill>
              </a:rPr>
              <a:t>The scattering transform was developed by Stéphane Mallat and his collaborators. Stéphane Mallat is a key figure in wavelet theory and signal processing. </a:t>
            </a:r>
            <a:br>
              <a:rPr lang="en-US" sz="1100" b="1">
                <a:solidFill>
                  <a:srgbClr val="EBEBEB"/>
                </a:solidFill>
              </a:rPr>
            </a:br>
            <a:r>
              <a:rPr lang="en-US" sz="1100" b="1">
                <a:solidFill>
                  <a:srgbClr val="EBEBEB"/>
                </a:solidFill>
              </a:rPr>
              <a:t>Wavelet Scattering is an equivalent deep convolutional network, formed by a cascade of wavelets, modulus nonlinearities, and lowpass filters to enable you to derive, with minimal configuration, low-variance features from real-valued time series and image data for use in machine learning and deep learning applications.</a:t>
            </a:r>
          </a:p>
          <a:p>
            <a:pPr>
              <a:lnSpc>
                <a:spcPct val="90000"/>
              </a:lnSpc>
            </a:pPr>
            <a:r>
              <a:rPr lang="en-US" sz="1100" b="1">
                <a:solidFill>
                  <a:srgbClr val="EBEBEB"/>
                </a:solidFill>
              </a:rPr>
              <a:t>It yields representations that are:</a:t>
            </a:r>
          </a:p>
          <a:p>
            <a:pPr>
              <a:lnSpc>
                <a:spcPct val="90000"/>
              </a:lnSpc>
            </a:pPr>
            <a:r>
              <a:rPr lang="en-US" sz="1100" b="1">
                <a:solidFill>
                  <a:srgbClr val="EBEBEB"/>
                </a:solidFill>
              </a:rPr>
              <a:t>Invariant to rotation translation and scaling</a:t>
            </a:r>
          </a:p>
          <a:p>
            <a:pPr>
              <a:lnSpc>
                <a:spcPct val="90000"/>
              </a:lnSpc>
            </a:pPr>
            <a:r>
              <a:rPr lang="en-US" sz="1100" b="1">
                <a:solidFill>
                  <a:srgbClr val="EBEBEB"/>
                </a:solidFill>
              </a:rPr>
              <a:t>Stable against time-warping deformations and shift invariant</a:t>
            </a:r>
          </a:p>
          <a:p>
            <a:pPr>
              <a:lnSpc>
                <a:spcPct val="90000"/>
              </a:lnSpc>
            </a:pPr>
            <a:r>
              <a:rPr lang="en-US" sz="1100" b="1">
                <a:solidFill>
                  <a:srgbClr val="EBEBEB"/>
                </a:solidFill>
              </a:rPr>
              <a:t>proved its usefulness in many classification tasks and attaining SOTA (State of the Art) on limited datasets.</a:t>
            </a:r>
            <a:endParaRPr lang="he-IL" sz="1100" b="1">
              <a:solidFill>
                <a:srgbClr val="EBEBEB"/>
              </a:solidFill>
            </a:endParaRPr>
          </a:p>
        </p:txBody>
      </p:sp>
    </p:spTree>
    <p:extLst>
      <p:ext uri="{BB962C8B-B14F-4D97-AF65-F5344CB8AC3E}">
        <p14:creationId xmlns:p14="http://schemas.microsoft.com/office/powerpoint/2010/main" val="21725026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3D93F-5EF2-F674-B96F-62C73E5522E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216B6E8C-A639-26CA-9E4B-9A1603300ACC}"/>
              </a:ext>
            </a:extLst>
          </p:cNvPr>
          <p:cNvSpPr>
            <a:spLocks noGrp="1"/>
          </p:cNvSpPr>
          <p:nvPr>
            <p:ph type="title"/>
          </p:nvPr>
        </p:nvSpPr>
        <p:spPr/>
        <p:txBody>
          <a:bodyPr/>
          <a:lstStyle/>
          <a:p>
            <a:r>
              <a:rPr lang="en-US" b="1" dirty="0"/>
              <a:t>Summery of the Architecture and Properties</a:t>
            </a:r>
            <a:endParaRPr lang="he-IL" b="1" dirty="0"/>
          </a:p>
        </p:txBody>
      </p:sp>
      <p:sp>
        <p:nvSpPr>
          <p:cNvPr id="3" name="מציין מיקום תוכן 2">
            <a:extLst>
              <a:ext uri="{FF2B5EF4-FFF2-40B4-BE49-F238E27FC236}">
                <a16:creationId xmlns:a16="http://schemas.microsoft.com/office/drawing/2014/main" id="{D9575D1C-B699-31B7-54A9-FCE8184F15B1}"/>
              </a:ext>
            </a:extLst>
          </p:cNvPr>
          <p:cNvSpPr>
            <a:spLocks noGrp="1"/>
          </p:cNvSpPr>
          <p:nvPr>
            <p:ph idx="1"/>
          </p:nvPr>
        </p:nvSpPr>
        <p:spPr/>
        <p:txBody>
          <a:bodyPr/>
          <a:lstStyle/>
          <a:p>
            <a:pPr algn="l"/>
            <a:r>
              <a:rPr lang="en-US" b="1" dirty="0"/>
              <a:t>Convolutional filters: band-limited wavelets</a:t>
            </a:r>
          </a:p>
          <a:p>
            <a:pPr algn="l"/>
            <a:r>
              <a:rPr lang="en-US" b="1" dirty="0"/>
              <a:t>Nonlinear activation: modulus (Lipschitz)</a:t>
            </a:r>
          </a:p>
          <a:p>
            <a:pPr algn="l"/>
            <a:r>
              <a:rPr lang="en-US" b="1" dirty="0"/>
              <a:t>Pooling: L1 norm as averaging</a:t>
            </a:r>
            <a:endParaRPr lang="he-IL" b="1" dirty="0"/>
          </a:p>
          <a:p>
            <a:pPr algn="l"/>
            <a:r>
              <a:rPr lang="en-US" b="1" dirty="0"/>
              <a:t>A Multiscale Sparse Representation</a:t>
            </a:r>
          </a:p>
          <a:p>
            <a:pPr algn="l"/>
            <a:r>
              <a:rPr lang="en-US" b="1" dirty="0"/>
              <a:t>Norm Preservation (Parseval’s identity)</a:t>
            </a:r>
          </a:p>
          <a:p>
            <a:pPr algn="l"/>
            <a:r>
              <a:rPr lang="en-US" b="1" dirty="0"/>
              <a:t>Contraction</a:t>
            </a:r>
            <a:endParaRPr lang="he-IL" b="1" dirty="0"/>
          </a:p>
        </p:txBody>
      </p:sp>
    </p:spTree>
    <p:extLst>
      <p:ext uri="{BB962C8B-B14F-4D97-AF65-F5344CB8AC3E}">
        <p14:creationId xmlns:p14="http://schemas.microsoft.com/office/powerpoint/2010/main" val="3666264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F2137-4E7D-3921-2746-E68BE6C676D6}"/>
            </a:ext>
          </a:extLst>
        </p:cNvPr>
        <p:cNvGrpSpPr/>
        <p:nvPr/>
      </p:nvGrpSpPr>
      <p:grpSpPr>
        <a:xfrm>
          <a:off x="0" y="0"/>
          <a:ext cx="0" cy="0"/>
          <a:chOff x="0" y="0"/>
          <a:chExt cx="0" cy="0"/>
        </a:xfrm>
      </p:grpSpPr>
      <p:sp>
        <p:nvSpPr>
          <p:cNvPr id="36" name="מלבן: פינות מעוגלות 35">
            <a:extLst>
              <a:ext uri="{FF2B5EF4-FFF2-40B4-BE49-F238E27FC236}">
                <a16:creationId xmlns:a16="http://schemas.microsoft.com/office/drawing/2014/main" id="{729BCE6E-45F9-63F6-218F-E962F8DE30F9}"/>
              </a:ext>
            </a:extLst>
          </p:cNvPr>
          <p:cNvSpPr/>
          <p:nvPr/>
        </p:nvSpPr>
        <p:spPr>
          <a:xfrm>
            <a:off x="1007003" y="4452193"/>
            <a:ext cx="11063610" cy="1026029"/>
          </a:xfrm>
          <a:prstGeom prst="roundRect">
            <a:avLst/>
          </a:prstGeom>
          <a:solidFill>
            <a:schemeClr val="bg2">
              <a:lumMod val="40000"/>
              <a:lumOff val="60000"/>
            </a:schemeClr>
          </a:solidFill>
        </p:spPr>
        <p:style>
          <a:lnRef idx="2">
            <a:schemeClr val="accent6"/>
          </a:lnRef>
          <a:fillRef idx="1">
            <a:schemeClr val="lt1"/>
          </a:fillRef>
          <a:effectRef idx="0">
            <a:schemeClr val="accent6"/>
          </a:effectRef>
          <a:fontRef idx="minor">
            <a:schemeClr val="dk1"/>
          </a:fontRef>
        </p:style>
        <p:txBody>
          <a:bodyPr rtlCol="1" anchor="ctr"/>
          <a:lstStyle/>
          <a:p>
            <a:pPr algn="ctr"/>
            <a:endParaRPr lang="he-IL"/>
          </a:p>
        </p:txBody>
      </p:sp>
      <p:sp>
        <p:nvSpPr>
          <p:cNvPr id="20" name="מלבן: פינות מעוגלות 19">
            <a:extLst>
              <a:ext uri="{FF2B5EF4-FFF2-40B4-BE49-F238E27FC236}">
                <a16:creationId xmlns:a16="http://schemas.microsoft.com/office/drawing/2014/main" id="{994A28FC-58F0-D8BC-36ED-62975AAA8202}"/>
              </a:ext>
            </a:extLst>
          </p:cNvPr>
          <p:cNvSpPr/>
          <p:nvPr/>
        </p:nvSpPr>
        <p:spPr>
          <a:xfrm>
            <a:off x="1169599" y="2394857"/>
            <a:ext cx="10646229" cy="762000"/>
          </a:xfrm>
          <a:prstGeom prst="roundRect">
            <a:avLst/>
          </a:prstGeom>
          <a:solidFill>
            <a:schemeClr val="bg1">
              <a:lumMod val="50000"/>
              <a:lumOff val="50000"/>
            </a:schemeClr>
          </a:solidFill>
        </p:spPr>
        <p:style>
          <a:lnRef idx="2">
            <a:schemeClr val="accent6"/>
          </a:lnRef>
          <a:fillRef idx="1">
            <a:schemeClr val="lt1"/>
          </a:fillRef>
          <a:effectRef idx="0">
            <a:schemeClr val="accent6"/>
          </a:effectRef>
          <a:fontRef idx="minor">
            <a:schemeClr val="dk1"/>
          </a:fontRef>
        </p:style>
        <p:txBody>
          <a:bodyPr rtlCol="1" anchor="ctr"/>
          <a:lstStyle/>
          <a:p>
            <a:pPr algn="ctr"/>
            <a:endParaRPr lang="he-IL"/>
          </a:p>
        </p:txBody>
      </p:sp>
      <p:sp>
        <p:nvSpPr>
          <p:cNvPr id="2" name="כותרת 1">
            <a:extLst>
              <a:ext uri="{FF2B5EF4-FFF2-40B4-BE49-F238E27FC236}">
                <a16:creationId xmlns:a16="http://schemas.microsoft.com/office/drawing/2014/main" id="{C714206C-0340-30EB-F038-5F44191D7BB9}"/>
              </a:ext>
            </a:extLst>
          </p:cNvPr>
          <p:cNvSpPr>
            <a:spLocks noGrp="1"/>
          </p:cNvSpPr>
          <p:nvPr>
            <p:ph type="title"/>
          </p:nvPr>
        </p:nvSpPr>
        <p:spPr>
          <a:xfrm>
            <a:off x="646111" y="452718"/>
            <a:ext cx="10212096" cy="1400530"/>
          </a:xfrm>
        </p:spPr>
        <p:txBody>
          <a:bodyPr/>
          <a:lstStyle/>
          <a:p>
            <a:r>
              <a:rPr lang="en-US" b="1" dirty="0"/>
              <a:t>Convolutional vs. Scattering Network</a:t>
            </a:r>
            <a:endParaRPr lang="he-IL" b="1" dirty="0"/>
          </a:p>
        </p:txBody>
      </p:sp>
      <p:sp>
        <p:nvSpPr>
          <p:cNvPr id="4" name="מלבן 3">
            <a:extLst>
              <a:ext uri="{FF2B5EF4-FFF2-40B4-BE49-F238E27FC236}">
                <a16:creationId xmlns:a16="http://schemas.microsoft.com/office/drawing/2014/main" id="{CED79819-22D7-26ED-1A50-CE3D9EC601FF}"/>
              </a:ext>
            </a:extLst>
          </p:cNvPr>
          <p:cNvSpPr/>
          <p:nvPr/>
        </p:nvSpPr>
        <p:spPr>
          <a:xfrm>
            <a:off x="1314900" y="2516382"/>
            <a:ext cx="1274651" cy="531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400" b="1" dirty="0"/>
              <a:t>convolution</a:t>
            </a:r>
            <a:endParaRPr lang="he-IL" sz="1400" b="1" dirty="0"/>
          </a:p>
        </p:txBody>
      </p:sp>
      <p:sp>
        <p:nvSpPr>
          <p:cNvPr id="6" name="מלבן 5">
            <a:extLst>
              <a:ext uri="{FF2B5EF4-FFF2-40B4-BE49-F238E27FC236}">
                <a16:creationId xmlns:a16="http://schemas.microsoft.com/office/drawing/2014/main" id="{BC304062-D447-D726-D6F9-49CAFBBD46D6}"/>
              </a:ext>
            </a:extLst>
          </p:cNvPr>
          <p:cNvSpPr/>
          <p:nvPr/>
        </p:nvSpPr>
        <p:spPr>
          <a:xfrm>
            <a:off x="2625044" y="2512720"/>
            <a:ext cx="541325" cy="5316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200" b="1" dirty="0"/>
              <a:t>RELU</a:t>
            </a:r>
            <a:endParaRPr lang="he-IL" sz="1200" b="1" dirty="0"/>
          </a:p>
        </p:txBody>
      </p:sp>
      <p:sp>
        <p:nvSpPr>
          <p:cNvPr id="7" name="מלבן 6">
            <a:extLst>
              <a:ext uri="{FF2B5EF4-FFF2-40B4-BE49-F238E27FC236}">
                <a16:creationId xmlns:a16="http://schemas.microsoft.com/office/drawing/2014/main" id="{D2A923A5-6F61-5298-43FD-D567E8597F43}"/>
              </a:ext>
            </a:extLst>
          </p:cNvPr>
          <p:cNvSpPr/>
          <p:nvPr/>
        </p:nvSpPr>
        <p:spPr>
          <a:xfrm>
            <a:off x="3236239" y="2525301"/>
            <a:ext cx="866435" cy="531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400" b="1" dirty="0"/>
              <a:t>pooling</a:t>
            </a:r>
            <a:endParaRPr lang="he-IL" sz="1400" b="1" dirty="0"/>
          </a:p>
        </p:txBody>
      </p:sp>
      <p:sp>
        <p:nvSpPr>
          <p:cNvPr id="8" name="חץ: ימינה 7">
            <a:extLst>
              <a:ext uri="{FF2B5EF4-FFF2-40B4-BE49-F238E27FC236}">
                <a16:creationId xmlns:a16="http://schemas.microsoft.com/office/drawing/2014/main" id="{C9607918-B7E8-60E3-5173-90EE2753ACE7}"/>
              </a:ext>
            </a:extLst>
          </p:cNvPr>
          <p:cNvSpPr/>
          <p:nvPr/>
        </p:nvSpPr>
        <p:spPr>
          <a:xfrm>
            <a:off x="4160841" y="2773706"/>
            <a:ext cx="348343" cy="1015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a:extLst>
              <a:ext uri="{FF2B5EF4-FFF2-40B4-BE49-F238E27FC236}">
                <a16:creationId xmlns:a16="http://schemas.microsoft.com/office/drawing/2014/main" id="{C838941B-B046-8DB3-6AA2-C42C0422F691}"/>
              </a:ext>
            </a:extLst>
          </p:cNvPr>
          <p:cNvSpPr/>
          <p:nvPr/>
        </p:nvSpPr>
        <p:spPr>
          <a:xfrm>
            <a:off x="4559291" y="2512720"/>
            <a:ext cx="1345975" cy="5468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400" b="1" dirty="0"/>
              <a:t>convolution</a:t>
            </a:r>
            <a:endParaRPr lang="he-IL" sz="1400" b="1" dirty="0"/>
          </a:p>
        </p:txBody>
      </p:sp>
      <p:sp>
        <p:nvSpPr>
          <p:cNvPr id="10" name="מלבן 9">
            <a:extLst>
              <a:ext uri="{FF2B5EF4-FFF2-40B4-BE49-F238E27FC236}">
                <a16:creationId xmlns:a16="http://schemas.microsoft.com/office/drawing/2014/main" id="{2A2A708E-5B77-E086-1B84-4CC828F03BD1}"/>
              </a:ext>
            </a:extLst>
          </p:cNvPr>
          <p:cNvSpPr/>
          <p:nvPr/>
        </p:nvSpPr>
        <p:spPr>
          <a:xfrm>
            <a:off x="5950327" y="2512721"/>
            <a:ext cx="504507" cy="531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100" b="1" dirty="0"/>
              <a:t>RELU</a:t>
            </a:r>
            <a:endParaRPr lang="he-IL" sz="1100" b="1" dirty="0"/>
          </a:p>
        </p:txBody>
      </p:sp>
      <p:sp>
        <p:nvSpPr>
          <p:cNvPr id="11" name="מלבן 10">
            <a:extLst>
              <a:ext uri="{FF2B5EF4-FFF2-40B4-BE49-F238E27FC236}">
                <a16:creationId xmlns:a16="http://schemas.microsoft.com/office/drawing/2014/main" id="{322F0A11-A8FC-0633-D853-ADF7DE4FF3C8}"/>
              </a:ext>
            </a:extLst>
          </p:cNvPr>
          <p:cNvSpPr/>
          <p:nvPr/>
        </p:nvSpPr>
        <p:spPr>
          <a:xfrm>
            <a:off x="6492714" y="2512720"/>
            <a:ext cx="871543" cy="5316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400" b="1" dirty="0"/>
              <a:t>pooling</a:t>
            </a:r>
            <a:endParaRPr lang="he-IL" sz="1400" b="1" dirty="0"/>
          </a:p>
        </p:txBody>
      </p:sp>
      <p:sp>
        <p:nvSpPr>
          <p:cNvPr id="14" name="מלבן 13">
            <a:extLst>
              <a:ext uri="{FF2B5EF4-FFF2-40B4-BE49-F238E27FC236}">
                <a16:creationId xmlns:a16="http://schemas.microsoft.com/office/drawing/2014/main" id="{923DC468-3948-AAD9-8F48-F91A9059C83A}"/>
              </a:ext>
            </a:extLst>
          </p:cNvPr>
          <p:cNvSpPr/>
          <p:nvPr/>
        </p:nvSpPr>
        <p:spPr>
          <a:xfrm>
            <a:off x="8857150" y="2497463"/>
            <a:ext cx="1345975" cy="531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400" b="1" dirty="0"/>
              <a:t>convolution</a:t>
            </a:r>
            <a:endParaRPr lang="he-IL" sz="1400" b="1" dirty="0"/>
          </a:p>
        </p:txBody>
      </p:sp>
      <p:sp>
        <p:nvSpPr>
          <p:cNvPr id="15" name="מלבן 14">
            <a:extLst>
              <a:ext uri="{FF2B5EF4-FFF2-40B4-BE49-F238E27FC236}">
                <a16:creationId xmlns:a16="http://schemas.microsoft.com/office/drawing/2014/main" id="{A199B127-6A95-2C55-D1D3-F7FA7A771DA1}"/>
              </a:ext>
            </a:extLst>
          </p:cNvPr>
          <p:cNvSpPr/>
          <p:nvPr/>
        </p:nvSpPr>
        <p:spPr>
          <a:xfrm>
            <a:off x="10245397" y="2497462"/>
            <a:ext cx="504507" cy="531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100" b="1" dirty="0"/>
              <a:t>RELU</a:t>
            </a:r>
            <a:endParaRPr lang="he-IL" sz="1100" b="1" dirty="0"/>
          </a:p>
        </p:txBody>
      </p:sp>
      <p:sp>
        <p:nvSpPr>
          <p:cNvPr id="16" name="מלבן 15">
            <a:extLst>
              <a:ext uri="{FF2B5EF4-FFF2-40B4-BE49-F238E27FC236}">
                <a16:creationId xmlns:a16="http://schemas.microsoft.com/office/drawing/2014/main" id="{C2A4EB35-439D-6717-D4D1-5EE18451E487}"/>
              </a:ext>
            </a:extLst>
          </p:cNvPr>
          <p:cNvSpPr/>
          <p:nvPr/>
        </p:nvSpPr>
        <p:spPr>
          <a:xfrm>
            <a:off x="10858207" y="2497462"/>
            <a:ext cx="866435" cy="531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400" b="1" dirty="0"/>
              <a:t>pooling</a:t>
            </a:r>
            <a:endParaRPr lang="he-IL" sz="1400" b="1" dirty="0"/>
          </a:p>
        </p:txBody>
      </p:sp>
      <p:sp>
        <p:nvSpPr>
          <p:cNvPr id="17" name="אליפסה 16">
            <a:extLst>
              <a:ext uri="{FF2B5EF4-FFF2-40B4-BE49-F238E27FC236}">
                <a16:creationId xmlns:a16="http://schemas.microsoft.com/office/drawing/2014/main" id="{FDACDD69-DE8B-9584-6079-51BC3DAE92E8}"/>
              </a:ext>
            </a:extLst>
          </p:cNvPr>
          <p:cNvSpPr/>
          <p:nvPr/>
        </p:nvSpPr>
        <p:spPr>
          <a:xfrm>
            <a:off x="7582524" y="2754526"/>
            <a:ext cx="119743" cy="10154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אליפסה 17">
            <a:extLst>
              <a:ext uri="{FF2B5EF4-FFF2-40B4-BE49-F238E27FC236}">
                <a16:creationId xmlns:a16="http://schemas.microsoft.com/office/drawing/2014/main" id="{D6C29703-7028-B627-762D-27F4BD4CA561}"/>
              </a:ext>
            </a:extLst>
          </p:cNvPr>
          <p:cNvSpPr/>
          <p:nvPr/>
        </p:nvSpPr>
        <p:spPr>
          <a:xfrm>
            <a:off x="7975452" y="2754525"/>
            <a:ext cx="119743" cy="10154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אליפסה 18">
            <a:extLst>
              <a:ext uri="{FF2B5EF4-FFF2-40B4-BE49-F238E27FC236}">
                <a16:creationId xmlns:a16="http://schemas.microsoft.com/office/drawing/2014/main" id="{83D965CA-3576-60D5-4194-D961A310B181}"/>
              </a:ext>
            </a:extLst>
          </p:cNvPr>
          <p:cNvSpPr/>
          <p:nvPr/>
        </p:nvSpPr>
        <p:spPr>
          <a:xfrm>
            <a:off x="8404350" y="2740337"/>
            <a:ext cx="119743" cy="10154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מלבן: פינות מעוגלות 20">
            <a:extLst>
              <a:ext uri="{FF2B5EF4-FFF2-40B4-BE49-F238E27FC236}">
                <a16:creationId xmlns:a16="http://schemas.microsoft.com/office/drawing/2014/main" id="{E83BA7B4-8F0C-88EA-A220-8689ACA88FED}"/>
              </a:ext>
            </a:extLst>
          </p:cNvPr>
          <p:cNvSpPr/>
          <p:nvPr/>
        </p:nvSpPr>
        <p:spPr>
          <a:xfrm>
            <a:off x="166954" y="2382271"/>
            <a:ext cx="902970" cy="762000"/>
          </a:xfrm>
          <a:prstGeom prst="roundRect">
            <a:avLst/>
          </a:prstGeom>
        </p:spPr>
        <p:style>
          <a:lnRef idx="2">
            <a:schemeClr val="accent6"/>
          </a:lnRef>
          <a:fillRef idx="1">
            <a:schemeClr val="lt1"/>
          </a:fillRef>
          <a:effectRef idx="0">
            <a:schemeClr val="accent6"/>
          </a:effectRef>
          <a:fontRef idx="minor">
            <a:schemeClr val="dk1"/>
          </a:fontRef>
        </p:style>
        <p:txBody>
          <a:bodyPr rtlCol="1" anchor="ctr"/>
          <a:lstStyle/>
          <a:p>
            <a:pPr algn="ctr"/>
            <a:r>
              <a:rPr lang="en-US" sz="1100" dirty="0"/>
              <a:t>Input signal/ image</a:t>
            </a:r>
            <a:endParaRPr lang="he-IL" sz="1100" dirty="0"/>
          </a:p>
        </p:txBody>
      </p:sp>
      <p:sp>
        <p:nvSpPr>
          <p:cNvPr id="22" name="מלבן 21">
            <a:extLst>
              <a:ext uri="{FF2B5EF4-FFF2-40B4-BE49-F238E27FC236}">
                <a16:creationId xmlns:a16="http://schemas.microsoft.com/office/drawing/2014/main" id="{3DA806AC-DDE9-A538-F43D-BD67E3AC4AF8}"/>
              </a:ext>
            </a:extLst>
          </p:cNvPr>
          <p:cNvSpPr/>
          <p:nvPr/>
        </p:nvSpPr>
        <p:spPr>
          <a:xfrm>
            <a:off x="1125206" y="4522120"/>
            <a:ext cx="1012468" cy="908068"/>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100" b="1" dirty="0"/>
              <a:t>Wavelet</a:t>
            </a:r>
          </a:p>
          <a:p>
            <a:pPr algn="ctr"/>
            <a:r>
              <a:rPr lang="en-US" sz="1100" b="1" dirty="0"/>
              <a:t>convolution</a:t>
            </a:r>
            <a:endParaRPr lang="he-IL" sz="1100" b="1" dirty="0"/>
          </a:p>
        </p:txBody>
      </p:sp>
      <p:sp>
        <p:nvSpPr>
          <p:cNvPr id="23" name="מלבן 22">
            <a:extLst>
              <a:ext uri="{FF2B5EF4-FFF2-40B4-BE49-F238E27FC236}">
                <a16:creationId xmlns:a16="http://schemas.microsoft.com/office/drawing/2014/main" id="{FCF7C4BD-0D56-AC96-07B3-1BFBD9231D6A}"/>
              </a:ext>
            </a:extLst>
          </p:cNvPr>
          <p:cNvSpPr/>
          <p:nvPr/>
        </p:nvSpPr>
        <p:spPr>
          <a:xfrm>
            <a:off x="2190903" y="4662644"/>
            <a:ext cx="1012468" cy="531618"/>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100" b="1" dirty="0"/>
              <a:t>Nonlinearity</a:t>
            </a:r>
            <a:endParaRPr lang="he-IL" sz="1100" b="1" dirty="0"/>
          </a:p>
        </p:txBody>
      </p:sp>
      <p:sp>
        <p:nvSpPr>
          <p:cNvPr id="24" name="מלבן 23">
            <a:extLst>
              <a:ext uri="{FF2B5EF4-FFF2-40B4-BE49-F238E27FC236}">
                <a16:creationId xmlns:a16="http://schemas.microsoft.com/office/drawing/2014/main" id="{E3C88A91-8D79-AB23-A3F6-BBAD4234478C}"/>
              </a:ext>
            </a:extLst>
          </p:cNvPr>
          <p:cNvSpPr/>
          <p:nvPr/>
        </p:nvSpPr>
        <p:spPr>
          <a:xfrm>
            <a:off x="3266079" y="4662644"/>
            <a:ext cx="938366" cy="531618"/>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100" b="1" dirty="0"/>
              <a:t>Averaging</a:t>
            </a:r>
            <a:endParaRPr lang="he-IL" sz="1100" b="1" dirty="0"/>
          </a:p>
        </p:txBody>
      </p:sp>
      <p:sp>
        <p:nvSpPr>
          <p:cNvPr id="25" name="מלבן: פינות מעוגלות 24">
            <a:extLst>
              <a:ext uri="{FF2B5EF4-FFF2-40B4-BE49-F238E27FC236}">
                <a16:creationId xmlns:a16="http://schemas.microsoft.com/office/drawing/2014/main" id="{902BA164-FEC1-889D-A612-C92C2DC5FAB8}"/>
              </a:ext>
            </a:extLst>
          </p:cNvPr>
          <p:cNvSpPr/>
          <p:nvPr/>
        </p:nvSpPr>
        <p:spPr>
          <a:xfrm>
            <a:off x="31410" y="4626113"/>
            <a:ext cx="902970" cy="762000"/>
          </a:xfrm>
          <a:prstGeom prst="roundRect">
            <a:avLst/>
          </a:prstGeom>
        </p:spPr>
        <p:style>
          <a:lnRef idx="2">
            <a:schemeClr val="accent6"/>
          </a:lnRef>
          <a:fillRef idx="1">
            <a:schemeClr val="lt1"/>
          </a:fillRef>
          <a:effectRef idx="0">
            <a:schemeClr val="accent6"/>
          </a:effectRef>
          <a:fontRef idx="minor">
            <a:schemeClr val="dk1"/>
          </a:fontRef>
        </p:style>
        <p:txBody>
          <a:bodyPr rtlCol="1" anchor="ctr"/>
          <a:lstStyle/>
          <a:p>
            <a:pPr algn="ctr"/>
            <a:r>
              <a:rPr lang="en-US" sz="1100" dirty="0"/>
              <a:t>Input signal/ image</a:t>
            </a:r>
            <a:endParaRPr lang="he-IL" sz="1100" dirty="0"/>
          </a:p>
        </p:txBody>
      </p:sp>
      <p:sp>
        <p:nvSpPr>
          <p:cNvPr id="26" name="מלבן 25">
            <a:extLst>
              <a:ext uri="{FF2B5EF4-FFF2-40B4-BE49-F238E27FC236}">
                <a16:creationId xmlns:a16="http://schemas.microsoft.com/office/drawing/2014/main" id="{3914CDD1-C984-FD2C-3FF7-917A3329CD9B}"/>
              </a:ext>
            </a:extLst>
          </p:cNvPr>
          <p:cNvSpPr/>
          <p:nvPr/>
        </p:nvSpPr>
        <p:spPr>
          <a:xfrm>
            <a:off x="4548822" y="4488474"/>
            <a:ext cx="1122809" cy="908068"/>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100" b="1" dirty="0"/>
              <a:t>Wavelet</a:t>
            </a:r>
          </a:p>
          <a:p>
            <a:pPr algn="ctr"/>
            <a:r>
              <a:rPr lang="en-US" sz="1100" b="1" dirty="0"/>
              <a:t>convolution</a:t>
            </a:r>
            <a:endParaRPr lang="he-IL" sz="1100" b="1" dirty="0"/>
          </a:p>
        </p:txBody>
      </p:sp>
      <p:sp>
        <p:nvSpPr>
          <p:cNvPr id="27" name="מלבן 26">
            <a:extLst>
              <a:ext uri="{FF2B5EF4-FFF2-40B4-BE49-F238E27FC236}">
                <a16:creationId xmlns:a16="http://schemas.microsoft.com/office/drawing/2014/main" id="{F6B771B4-87B4-5630-5084-A9580DEE95FB}"/>
              </a:ext>
            </a:extLst>
          </p:cNvPr>
          <p:cNvSpPr/>
          <p:nvPr/>
        </p:nvSpPr>
        <p:spPr>
          <a:xfrm>
            <a:off x="5710764" y="4662644"/>
            <a:ext cx="1071304" cy="531618"/>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100" b="1" dirty="0"/>
              <a:t>Nonlinearity</a:t>
            </a:r>
            <a:endParaRPr lang="he-IL" sz="1100" b="1" dirty="0"/>
          </a:p>
        </p:txBody>
      </p:sp>
      <p:sp>
        <p:nvSpPr>
          <p:cNvPr id="28" name="מלבן 27">
            <a:extLst>
              <a:ext uri="{FF2B5EF4-FFF2-40B4-BE49-F238E27FC236}">
                <a16:creationId xmlns:a16="http://schemas.microsoft.com/office/drawing/2014/main" id="{BDAD4460-0611-20A4-24D3-A9332890FC19}"/>
              </a:ext>
            </a:extLst>
          </p:cNvPr>
          <p:cNvSpPr/>
          <p:nvPr/>
        </p:nvSpPr>
        <p:spPr>
          <a:xfrm>
            <a:off x="6853579" y="4639979"/>
            <a:ext cx="974883" cy="531618"/>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100" b="1" dirty="0"/>
              <a:t>Averaging</a:t>
            </a:r>
            <a:endParaRPr lang="he-IL" sz="1100" b="1" dirty="0"/>
          </a:p>
        </p:txBody>
      </p:sp>
      <p:sp>
        <p:nvSpPr>
          <p:cNvPr id="29" name="חץ: ימינה 28">
            <a:extLst>
              <a:ext uri="{FF2B5EF4-FFF2-40B4-BE49-F238E27FC236}">
                <a16:creationId xmlns:a16="http://schemas.microsoft.com/office/drawing/2014/main" id="{8D979816-9A2D-9F27-2F06-114F3F12DFE9}"/>
              </a:ext>
            </a:extLst>
          </p:cNvPr>
          <p:cNvSpPr/>
          <p:nvPr/>
        </p:nvSpPr>
        <p:spPr>
          <a:xfrm>
            <a:off x="4233509" y="4905788"/>
            <a:ext cx="267811" cy="73441"/>
          </a:xfrm>
          <a:prstGeom prst="rightArrow">
            <a:avLst/>
          </a:prstGeom>
          <a:solidFill>
            <a:schemeClr val="bg2">
              <a:lumMod val="60000"/>
              <a:lumOff val="40000"/>
            </a:schemeClr>
          </a:solidFill>
          <a:ln>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אליפסה 29">
            <a:extLst>
              <a:ext uri="{FF2B5EF4-FFF2-40B4-BE49-F238E27FC236}">
                <a16:creationId xmlns:a16="http://schemas.microsoft.com/office/drawing/2014/main" id="{E858BBB8-8795-C2BD-1F2D-B8488366B86E}"/>
              </a:ext>
            </a:extLst>
          </p:cNvPr>
          <p:cNvSpPr/>
          <p:nvPr/>
        </p:nvSpPr>
        <p:spPr>
          <a:xfrm>
            <a:off x="7963036" y="4829983"/>
            <a:ext cx="119743" cy="101545"/>
          </a:xfrm>
          <a:prstGeom prst="ellipse">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 name="אליפסה 30">
            <a:extLst>
              <a:ext uri="{FF2B5EF4-FFF2-40B4-BE49-F238E27FC236}">
                <a16:creationId xmlns:a16="http://schemas.microsoft.com/office/drawing/2014/main" id="{48386029-C238-FE1C-C18F-21C443001A6C}"/>
              </a:ext>
            </a:extLst>
          </p:cNvPr>
          <p:cNvSpPr/>
          <p:nvPr/>
        </p:nvSpPr>
        <p:spPr>
          <a:xfrm>
            <a:off x="8217353" y="4831530"/>
            <a:ext cx="119743" cy="101545"/>
          </a:xfrm>
          <a:prstGeom prst="ellipse">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2" name="אליפסה 31">
            <a:extLst>
              <a:ext uri="{FF2B5EF4-FFF2-40B4-BE49-F238E27FC236}">
                <a16:creationId xmlns:a16="http://schemas.microsoft.com/office/drawing/2014/main" id="{C8604BF9-13AC-88A8-9B44-B73C6C585984}"/>
              </a:ext>
            </a:extLst>
          </p:cNvPr>
          <p:cNvSpPr/>
          <p:nvPr/>
        </p:nvSpPr>
        <p:spPr>
          <a:xfrm>
            <a:off x="8568889" y="4829983"/>
            <a:ext cx="119743" cy="101545"/>
          </a:xfrm>
          <a:prstGeom prst="ellipse">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3" name="מלבן 32">
            <a:extLst>
              <a:ext uri="{FF2B5EF4-FFF2-40B4-BE49-F238E27FC236}">
                <a16:creationId xmlns:a16="http://schemas.microsoft.com/office/drawing/2014/main" id="{7C3149E7-F5CD-E1E2-ABF3-624B310B63FD}"/>
              </a:ext>
            </a:extLst>
          </p:cNvPr>
          <p:cNvSpPr/>
          <p:nvPr/>
        </p:nvSpPr>
        <p:spPr>
          <a:xfrm>
            <a:off x="8860875" y="4511173"/>
            <a:ext cx="974883" cy="908068"/>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050" b="1" dirty="0"/>
              <a:t>Wavelet</a:t>
            </a:r>
          </a:p>
          <a:p>
            <a:pPr algn="ctr"/>
            <a:r>
              <a:rPr lang="en-US" sz="1050" b="1" dirty="0"/>
              <a:t>convolution</a:t>
            </a:r>
            <a:endParaRPr lang="he-IL" sz="1050" b="1" dirty="0"/>
          </a:p>
        </p:txBody>
      </p:sp>
      <p:sp>
        <p:nvSpPr>
          <p:cNvPr id="34" name="מלבן 33">
            <a:extLst>
              <a:ext uri="{FF2B5EF4-FFF2-40B4-BE49-F238E27FC236}">
                <a16:creationId xmlns:a16="http://schemas.microsoft.com/office/drawing/2014/main" id="{A96873FD-283C-5CA2-2726-AD1BE853F094}"/>
              </a:ext>
            </a:extLst>
          </p:cNvPr>
          <p:cNvSpPr/>
          <p:nvPr/>
        </p:nvSpPr>
        <p:spPr>
          <a:xfrm>
            <a:off x="9886808" y="4676699"/>
            <a:ext cx="1078645" cy="531618"/>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100" b="1" dirty="0"/>
              <a:t>Nonlinearity</a:t>
            </a:r>
            <a:endParaRPr lang="he-IL" sz="1100" b="1" dirty="0"/>
          </a:p>
        </p:txBody>
      </p:sp>
      <p:sp>
        <p:nvSpPr>
          <p:cNvPr id="35" name="מלבן 34">
            <a:extLst>
              <a:ext uri="{FF2B5EF4-FFF2-40B4-BE49-F238E27FC236}">
                <a16:creationId xmlns:a16="http://schemas.microsoft.com/office/drawing/2014/main" id="{AD341ED8-09DA-2679-DA52-C9D6585227EA}"/>
              </a:ext>
            </a:extLst>
          </p:cNvPr>
          <p:cNvSpPr/>
          <p:nvPr/>
        </p:nvSpPr>
        <p:spPr>
          <a:xfrm>
            <a:off x="11048434" y="4662644"/>
            <a:ext cx="974883" cy="531618"/>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100" b="1" dirty="0"/>
              <a:t>Averaging</a:t>
            </a:r>
            <a:endParaRPr lang="he-IL" sz="1100" b="1" dirty="0"/>
          </a:p>
        </p:txBody>
      </p:sp>
      <p:sp>
        <p:nvSpPr>
          <p:cNvPr id="37" name="חץ: פניית פרסה 36">
            <a:extLst>
              <a:ext uri="{FF2B5EF4-FFF2-40B4-BE49-F238E27FC236}">
                <a16:creationId xmlns:a16="http://schemas.microsoft.com/office/drawing/2014/main" id="{A3F6AA8F-64CB-43CB-AED7-E6F9EDF600CB}"/>
              </a:ext>
            </a:extLst>
          </p:cNvPr>
          <p:cNvSpPr/>
          <p:nvPr/>
        </p:nvSpPr>
        <p:spPr>
          <a:xfrm>
            <a:off x="674988" y="4252160"/>
            <a:ext cx="385828" cy="336965"/>
          </a:xfrm>
          <a:prstGeom prst="uturnArrow">
            <a:avLst/>
          </a:prstGeom>
        </p:spPr>
        <p:style>
          <a:lnRef idx="2">
            <a:schemeClr val="accent6"/>
          </a:lnRef>
          <a:fillRef idx="1">
            <a:schemeClr val="lt1"/>
          </a:fillRef>
          <a:effectRef idx="0">
            <a:schemeClr val="accent6"/>
          </a:effectRef>
          <a:fontRef idx="minor">
            <a:schemeClr val="dk1"/>
          </a:fontRef>
        </p:style>
        <p:txBody>
          <a:bodyPr rtlCol="1" anchor="ctr"/>
          <a:lstStyle/>
          <a:p>
            <a:pPr algn="ctr"/>
            <a:endParaRPr lang="he-IL">
              <a:solidFill>
                <a:schemeClr val="tx1"/>
              </a:solidFill>
            </a:endParaRPr>
          </a:p>
        </p:txBody>
      </p:sp>
      <p:sp>
        <p:nvSpPr>
          <p:cNvPr id="38" name="חץ: פניית פרסה 37">
            <a:extLst>
              <a:ext uri="{FF2B5EF4-FFF2-40B4-BE49-F238E27FC236}">
                <a16:creationId xmlns:a16="http://schemas.microsoft.com/office/drawing/2014/main" id="{B3638BB1-862E-A522-3C91-226C60C29497}"/>
              </a:ext>
            </a:extLst>
          </p:cNvPr>
          <p:cNvSpPr/>
          <p:nvPr/>
        </p:nvSpPr>
        <p:spPr>
          <a:xfrm>
            <a:off x="877010" y="2025059"/>
            <a:ext cx="385828" cy="336965"/>
          </a:xfrm>
          <a:prstGeom prst="uturnArrow">
            <a:avLst/>
          </a:prstGeom>
        </p:spPr>
        <p:style>
          <a:lnRef idx="2">
            <a:schemeClr val="accent6"/>
          </a:lnRef>
          <a:fillRef idx="1">
            <a:schemeClr val="lt1"/>
          </a:fillRef>
          <a:effectRef idx="0">
            <a:schemeClr val="accent6"/>
          </a:effectRef>
          <a:fontRef idx="minor">
            <a:schemeClr val="dk1"/>
          </a:fontRef>
        </p:style>
        <p:txBody>
          <a:bodyPr rtlCol="1" anchor="ctr"/>
          <a:lstStyle/>
          <a:p>
            <a:pPr algn="ctr"/>
            <a:endParaRPr lang="he-IL">
              <a:solidFill>
                <a:schemeClr val="tx1"/>
              </a:solidFill>
            </a:endParaRPr>
          </a:p>
        </p:txBody>
      </p:sp>
      <p:sp>
        <p:nvSpPr>
          <p:cNvPr id="39" name="מלבן 38">
            <a:extLst>
              <a:ext uri="{FF2B5EF4-FFF2-40B4-BE49-F238E27FC236}">
                <a16:creationId xmlns:a16="http://schemas.microsoft.com/office/drawing/2014/main" id="{06C4A43E-3CA0-E4FA-97CA-26BDE08C658B}"/>
              </a:ext>
            </a:extLst>
          </p:cNvPr>
          <p:cNvSpPr/>
          <p:nvPr/>
        </p:nvSpPr>
        <p:spPr>
          <a:xfrm>
            <a:off x="4354286" y="1752600"/>
            <a:ext cx="3690338" cy="526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t>Convolutional Neural Network</a:t>
            </a:r>
            <a:endParaRPr lang="he-IL" b="1" dirty="0"/>
          </a:p>
        </p:txBody>
      </p:sp>
      <p:sp>
        <p:nvSpPr>
          <p:cNvPr id="40" name="מלבן 39">
            <a:extLst>
              <a:ext uri="{FF2B5EF4-FFF2-40B4-BE49-F238E27FC236}">
                <a16:creationId xmlns:a16="http://schemas.microsoft.com/office/drawing/2014/main" id="{BC4D6EDD-04F7-FA31-218D-E9DF7113B444}"/>
              </a:ext>
            </a:extLst>
          </p:cNvPr>
          <p:cNvSpPr/>
          <p:nvPr/>
        </p:nvSpPr>
        <p:spPr>
          <a:xfrm>
            <a:off x="4160841" y="3657600"/>
            <a:ext cx="4189081" cy="594560"/>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t>Wavelet Scattering Network </a:t>
            </a:r>
            <a:endParaRPr lang="he-IL" b="1" dirty="0"/>
          </a:p>
        </p:txBody>
      </p:sp>
    </p:spTree>
    <p:extLst>
      <p:ext uri="{BB962C8B-B14F-4D97-AF65-F5344CB8AC3E}">
        <p14:creationId xmlns:p14="http://schemas.microsoft.com/office/powerpoint/2010/main" val="2431866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1D238-54EC-C7DF-42BB-75AC4E408CA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00924A9-2BA6-133A-4F2E-8CF8AF38B7DF}"/>
              </a:ext>
            </a:extLst>
          </p:cNvPr>
          <p:cNvSpPr>
            <a:spLocks noGrp="1"/>
          </p:cNvSpPr>
          <p:nvPr>
            <p:ph type="title"/>
          </p:nvPr>
        </p:nvSpPr>
        <p:spPr>
          <a:xfrm>
            <a:off x="646111" y="452718"/>
            <a:ext cx="9858603" cy="1400530"/>
          </a:xfrm>
        </p:spPr>
        <p:txBody>
          <a:bodyPr/>
          <a:lstStyle/>
          <a:p>
            <a:r>
              <a:rPr lang="en-US" b="1" dirty="0"/>
              <a:t>Convolutional vs. Scattering Network</a:t>
            </a:r>
            <a:endParaRPr lang="he-IL" dirty="0"/>
          </a:p>
        </p:txBody>
      </p:sp>
      <p:sp>
        <p:nvSpPr>
          <p:cNvPr id="3" name="מציין מיקום תוכן 2">
            <a:extLst>
              <a:ext uri="{FF2B5EF4-FFF2-40B4-BE49-F238E27FC236}">
                <a16:creationId xmlns:a16="http://schemas.microsoft.com/office/drawing/2014/main" id="{51B4103B-BD44-65E7-3444-4524A6DD95C1}"/>
              </a:ext>
            </a:extLst>
          </p:cNvPr>
          <p:cNvSpPr>
            <a:spLocks noGrp="1"/>
          </p:cNvSpPr>
          <p:nvPr>
            <p:ph idx="1"/>
          </p:nvPr>
        </p:nvSpPr>
        <p:spPr/>
        <p:txBody>
          <a:bodyPr>
            <a:normAutofit/>
          </a:bodyPr>
          <a:lstStyle/>
          <a:p>
            <a:pPr lvl="2" algn="l"/>
            <a:r>
              <a:rPr lang="en-US" sz="2000" b="1" dirty="0"/>
              <a:t>The scattering transform uses predefined, non-trainable wavelet filters to extract features from input images. These filters are designed to capture multi-scale, hierarchical information in the image, similar to how convolutional layers in a CNN extract features. </a:t>
            </a:r>
          </a:p>
          <a:p>
            <a:pPr lvl="2" algn="l"/>
            <a:r>
              <a:rPr lang="en-US" sz="2000" b="1" dirty="0"/>
              <a:t>However, unlike CNNs where filters are learned during training, scattering uses fixed wavelets. The CNN, on the other hand, starts with random filters that are trained based on the data. CNNs adjust their filters to learn features specific to the task, such as classification.</a:t>
            </a:r>
            <a:endParaRPr lang="he-IL" sz="2000" b="1" dirty="0"/>
          </a:p>
        </p:txBody>
      </p:sp>
    </p:spTree>
    <p:extLst>
      <p:ext uri="{BB962C8B-B14F-4D97-AF65-F5344CB8AC3E}">
        <p14:creationId xmlns:p14="http://schemas.microsoft.com/office/powerpoint/2010/main" val="864237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AF557-A5F4-7C7A-8505-C38604B06960}"/>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03721666-BF38-74EA-7535-5DE6160BE455}"/>
              </a:ext>
            </a:extLst>
          </p:cNvPr>
          <p:cNvSpPr>
            <a:spLocks noGrp="1"/>
          </p:cNvSpPr>
          <p:nvPr>
            <p:ph type="title"/>
          </p:nvPr>
        </p:nvSpPr>
        <p:spPr>
          <a:xfrm>
            <a:off x="373968" y="528918"/>
            <a:ext cx="10566175" cy="1400530"/>
          </a:xfrm>
        </p:spPr>
        <p:txBody>
          <a:bodyPr/>
          <a:lstStyle/>
          <a:p>
            <a:r>
              <a:rPr lang="en-US" b="1" dirty="0"/>
              <a:t>The experiment Overview: Exploring Wavelet Scattering as CNN Initialization</a:t>
            </a:r>
            <a:r>
              <a:rPr lang="he-IL" b="1" dirty="0"/>
              <a:t> </a:t>
            </a:r>
          </a:p>
        </p:txBody>
      </p:sp>
      <p:sp>
        <p:nvSpPr>
          <p:cNvPr id="3" name="מציין מיקום תוכן 2">
            <a:extLst>
              <a:ext uri="{FF2B5EF4-FFF2-40B4-BE49-F238E27FC236}">
                <a16:creationId xmlns:a16="http://schemas.microsoft.com/office/drawing/2014/main" id="{BE937A41-2005-B95B-4CAD-40B1689B2A1D}"/>
              </a:ext>
            </a:extLst>
          </p:cNvPr>
          <p:cNvSpPr>
            <a:spLocks noGrp="1"/>
          </p:cNvSpPr>
          <p:nvPr>
            <p:ph idx="1"/>
          </p:nvPr>
        </p:nvSpPr>
        <p:spPr>
          <a:xfrm>
            <a:off x="875201" y="2907012"/>
            <a:ext cx="8946541" cy="4195481"/>
          </a:xfrm>
        </p:spPr>
        <p:txBody>
          <a:bodyPr>
            <a:normAutofit/>
          </a:bodyPr>
          <a:lstStyle/>
          <a:p>
            <a:pPr algn="l"/>
            <a:r>
              <a:rPr lang="en-US" sz="2400" b="1" dirty="0"/>
              <a:t>In this experiment, we investigate the relationship between wavelet scattering transforms and trainable convolutional neural networks (CNNs). The key goal is to initialize a CNN with wavelet filters, train it on image classification (MNIST), and observe how much the model changes compared to the initial scattering-based version.</a:t>
            </a:r>
            <a:endParaRPr lang="he-IL" sz="2400" b="1" dirty="0"/>
          </a:p>
        </p:txBody>
      </p:sp>
    </p:spTree>
    <p:extLst>
      <p:ext uri="{BB962C8B-B14F-4D97-AF65-F5344CB8AC3E}">
        <p14:creationId xmlns:p14="http://schemas.microsoft.com/office/powerpoint/2010/main" val="3187782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E030E-6CA5-365A-43B1-3A0C33410ED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6FAF6AB8-5669-D668-7A16-ED327B17CD9F}"/>
              </a:ext>
            </a:extLst>
          </p:cNvPr>
          <p:cNvSpPr>
            <a:spLocks noGrp="1"/>
          </p:cNvSpPr>
          <p:nvPr>
            <p:ph type="title"/>
          </p:nvPr>
        </p:nvSpPr>
        <p:spPr>
          <a:xfrm>
            <a:off x="439283" y="220917"/>
            <a:ext cx="9404723" cy="777368"/>
          </a:xfrm>
        </p:spPr>
        <p:txBody>
          <a:bodyPr/>
          <a:lstStyle/>
          <a:p>
            <a:r>
              <a:rPr lang="en-US" b="1" dirty="0"/>
              <a:t>Experiment Breakdown</a:t>
            </a:r>
            <a:endParaRPr lang="he-IL" b="1" dirty="0"/>
          </a:p>
        </p:txBody>
      </p:sp>
      <p:sp>
        <p:nvSpPr>
          <p:cNvPr id="3" name="מציין מיקום תוכן 2">
            <a:extLst>
              <a:ext uri="{FF2B5EF4-FFF2-40B4-BE49-F238E27FC236}">
                <a16:creationId xmlns:a16="http://schemas.microsoft.com/office/drawing/2014/main" id="{8ACE8A13-DB6B-D4D0-BF7E-E05CF662ABD3}"/>
              </a:ext>
            </a:extLst>
          </p:cNvPr>
          <p:cNvSpPr>
            <a:spLocks noGrp="1"/>
          </p:cNvSpPr>
          <p:nvPr>
            <p:ph idx="1"/>
          </p:nvPr>
        </p:nvSpPr>
        <p:spPr>
          <a:xfrm>
            <a:off x="286884" y="1386969"/>
            <a:ext cx="10914516" cy="5250114"/>
          </a:xfrm>
        </p:spPr>
        <p:txBody>
          <a:bodyPr>
            <a:normAutofit fontScale="92500" lnSpcReduction="10000"/>
          </a:bodyPr>
          <a:lstStyle/>
          <a:p>
            <a:pPr algn="l"/>
            <a:r>
              <a:rPr lang="en-US" b="1" dirty="0"/>
              <a:t>Step 1</a:t>
            </a:r>
            <a:r>
              <a:rPr lang="en-US" dirty="0"/>
              <a:t>: Fixed Scattering Transform with Trainable Classifier We begin by using a traditional scattering transform from the </a:t>
            </a:r>
            <a:r>
              <a:rPr lang="en-US" dirty="0" err="1"/>
              <a:t>Kymatio</a:t>
            </a:r>
            <a:r>
              <a:rPr lang="en-US" dirty="0"/>
              <a:t> library, where the scattering filters are fixed wavelets, and only a linear classifier layer is trainable. We train this model on the MNIST dataset. This step serves as the baseline, where scattering transforms are known for their translation invariance and stability to small deformations. The filters here are not learned but predefined as wavelets.</a:t>
            </a:r>
          </a:p>
          <a:p>
            <a:pPr algn="l"/>
            <a:r>
              <a:rPr lang="en-US" b="1" dirty="0"/>
              <a:t>Step 2</a:t>
            </a:r>
            <a:r>
              <a:rPr lang="en-US" dirty="0"/>
              <a:t>: Trainable Wavelet Filters with Frozen Classifier In the second part of the experiment, we initialize a fully trainable CNN by treating the wavelet filters as the starting point. These wavelets now become trainable, but the linear classifier is frozen, inherited from Step 1. We train the CNN filters using an Adam optimizer and allow the model to learn from the data while keeping the classifier fixed. This allows us to see how much the wavelet filters adjust during training.</a:t>
            </a:r>
          </a:p>
          <a:p>
            <a:pPr algn="l"/>
            <a:r>
              <a:rPr lang="en-US" b="1" dirty="0"/>
              <a:t>Step 3</a:t>
            </a:r>
            <a:r>
              <a:rPr lang="en-US" dirty="0"/>
              <a:t>: Random Filters with Frozen Classifier In the third phase, we initialize the CNN with random(after loading the wavelet filters again) filters instead of wavelets. The classifier remains frozen, inherited from Step 1 again. This setup mimics a traditional CNN framework, but with a pre-trained classifier. By comparing this to the scattering-initialized version, we can assess how random filter initialization changes the training process.</a:t>
            </a:r>
            <a:endParaRPr lang="he-IL" dirty="0"/>
          </a:p>
        </p:txBody>
      </p:sp>
    </p:spTree>
    <p:extLst>
      <p:ext uri="{BB962C8B-B14F-4D97-AF65-F5344CB8AC3E}">
        <p14:creationId xmlns:p14="http://schemas.microsoft.com/office/powerpoint/2010/main" val="1930006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345D2683-101B-656A-AA6C-CBEE54E170C1}"/>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2059FAD5-AAA3-0A2D-778C-ACEAA362F49C}"/>
              </a:ext>
            </a:extLst>
          </p:cNvPr>
          <p:cNvSpPr>
            <a:spLocks noGrp="1"/>
          </p:cNvSpPr>
          <p:nvPr>
            <p:ph type="title"/>
          </p:nvPr>
        </p:nvSpPr>
        <p:spPr>
          <a:xfrm>
            <a:off x="0" y="3371167"/>
            <a:ext cx="9164206" cy="831400"/>
          </a:xfrm>
        </p:spPr>
        <p:txBody>
          <a:bodyPr>
            <a:normAutofit/>
          </a:bodyPr>
          <a:lstStyle/>
          <a:p>
            <a:pPr>
              <a:lnSpc>
                <a:spcPct val="90000"/>
              </a:lnSpc>
            </a:pPr>
            <a:r>
              <a:rPr lang="en-US" sz="1800" b="1" dirty="0"/>
              <a:t>The code of the experiment</a:t>
            </a:r>
            <a:r>
              <a:rPr lang="he-IL" sz="1800" b="1" dirty="0"/>
              <a:t> </a:t>
            </a:r>
            <a:br>
              <a:rPr lang="en-US" sz="1800" b="1" dirty="0"/>
            </a:br>
            <a:r>
              <a:rPr lang="en-US" sz="1800" b="1" dirty="0"/>
              <a:t>step 1:</a:t>
            </a:r>
            <a:br>
              <a:rPr lang="en-US" sz="1600" b="1" dirty="0"/>
            </a:br>
            <a:endParaRPr lang="he-IL" sz="1600" b="1" dirty="0"/>
          </a:p>
        </p:txBody>
      </p:sp>
      <p:pic>
        <p:nvPicPr>
          <p:cNvPr id="7" name="תמונה 6" descr="תמונה שמכילה טקסט, צילום מסך, תוכנה&#10;&#10;התיאור נוצר באופן אוטומטי">
            <a:extLst>
              <a:ext uri="{FF2B5EF4-FFF2-40B4-BE49-F238E27FC236}">
                <a16:creationId xmlns:a16="http://schemas.microsoft.com/office/drawing/2014/main" id="{14BAC935-5598-9895-2937-D0688956A7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190"/>
            <a:ext cx="6585858" cy="3297564"/>
          </a:xfrm>
          <a:prstGeom prst="rect">
            <a:avLst/>
          </a:prstGeom>
          <a:effectLst>
            <a:outerShdw blurRad="50800" dist="38100" dir="5400000" algn="t" rotWithShape="0">
              <a:prstClr val="black">
                <a:alpha val="43000"/>
              </a:prstClr>
            </a:outerShdw>
          </a:effectLst>
        </p:spPr>
      </p:pic>
      <p:pic>
        <p:nvPicPr>
          <p:cNvPr id="5" name="תמונה 4" descr="תמונה שמכילה טקסט, צילום מסך, גופן&#10;&#10;התיאור נוצר באופן אוטומטי">
            <a:extLst>
              <a:ext uri="{FF2B5EF4-FFF2-40B4-BE49-F238E27FC236}">
                <a16:creationId xmlns:a16="http://schemas.microsoft.com/office/drawing/2014/main" id="{AD5AB044-8C9D-0946-C238-8E43BEC620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5859" y="-1223"/>
            <a:ext cx="5606142" cy="3334977"/>
          </a:xfrm>
          <a:prstGeom prst="rect">
            <a:avLst/>
          </a:prstGeom>
          <a:effectLst>
            <a:outerShdw blurRad="50800" dist="38100" dir="5400000" algn="t" rotWithShape="0">
              <a:prstClr val="black">
                <a:alpha val="43000"/>
              </a:prstClr>
            </a:outerShdw>
          </a:effectLst>
        </p:spPr>
      </p:pic>
      <p:sp>
        <p:nvSpPr>
          <p:cNvPr id="26" name="מציין מיקום תוכן 2">
            <a:extLst>
              <a:ext uri="{FF2B5EF4-FFF2-40B4-BE49-F238E27FC236}">
                <a16:creationId xmlns:a16="http://schemas.microsoft.com/office/drawing/2014/main" id="{2E15ECD5-7DD6-CC40-4914-C0C6B3BF322F}"/>
              </a:ext>
            </a:extLst>
          </p:cNvPr>
          <p:cNvSpPr>
            <a:spLocks noGrp="1"/>
          </p:cNvSpPr>
          <p:nvPr>
            <p:ph idx="1"/>
          </p:nvPr>
        </p:nvSpPr>
        <p:spPr>
          <a:xfrm>
            <a:off x="-1" y="3918858"/>
            <a:ext cx="12124945" cy="2787286"/>
          </a:xfrm>
        </p:spPr>
        <p:txBody>
          <a:bodyPr>
            <a:noAutofit/>
          </a:bodyPr>
          <a:lstStyle/>
          <a:p>
            <a:pPr algn="l">
              <a:lnSpc>
                <a:spcPct val="90000"/>
              </a:lnSpc>
            </a:pPr>
            <a:r>
              <a:rPr lang="en-US" sz="1400" dirty="0"/>
              <a:t>Step 1: Training a Fixed Scattering Classifier In this step, we use </a:t>
            </a:r>
            <a:r>
              <a:rPr lang="en-US" sz="1400" dirty="0" err="1"/>
              <a:t>Kymatio</a:t>
            </a:r>
            <a:r>
              <a:rPr lang="en-US" sz="1400" dirty="0"/>
              <a:t> and </a:t>
            </a:r>
            <a:r>
              <a:rPr lang="en-US" sz="1400" dirty="0" err="1"/>
              <a:t>PyTorch</a:t>
            </a:r>
            <a:r>
              <a:rPr lang="en-US" sz="1400" dirty="0"/>
              <a:t> to implement a scattering transform-based classifier for MNIST. Scattering Transform (Fixed Filters): We initialize a Scattering2D transform with fixed wavelet filters that extract translation-invariant features. The parameters, J=2 and L=8, define the scale and orientation of the filters. These filters remain non-trainable. Linear Classifier: </a:t>
            </a:r>
          </a:p>
          <a:p>
            <a:pPr algn="l">
              <a:lnSpc>
                <a:spcPct val="90000"/>
              </a:lnSpc>
            </a:pPr>
            <a:r>
              <a:rPr lang="en-US" sz="1400" dirty="0"/>
              <a:t>The scattering output is passed to a trainable linear layer that maps the features to the 10 digit classes (0-9).Training:</a:t>
            </a:r>
          </a:p>
          <a:p>
            <a:pPr algn="l">
              <a:lnSpc>
                <a:spcPct val="90000"/>
              </a:lnSpc>
            </a:pPr>
            <a:r>
              <a:rPr lang="en-US" sz="1400" dirty="0"/>
              <a:t> The model is trained on MNIST for 3 epochs using the Adam optimizer and cross-entropy loss. Only the linear layer is trained, while the scattering filters stay fixed. </a:t>
            </a:r>
          </a:p>
          <a:p>
            <a:pPr algn="l">
              <a:lnSpc>
                <a:spcPct val="90000"/>
              </a:lnSpc>
            </a:pPr>
            <a:r>
              <a:rPr lang="en-US" sz="1400" dirty="0"/>
              <a:t>Result: </a:t>
            </a:r>
          </a:p>
          <a:p>
            <a:pPr algn="l">
              <a:lnSpc>
                <a:spcPct val="90000"/>
              </a:lnSpc>
            </a:pPr>
            <a:r>
              <a:rPr lang="en-US" sz="1400" dirty="0"/>
              <a:t>This step establishes a baseline for the experiment, showing how much information can be extracted with predefined filters. The trained model is saved for use in the next steps. This provides a solid starting point to compare with the later models that involve training the wavelet filters or using random initializations.</a:t>
            </a:r>
            <a:endParaRPr lang="he-IL" sz="1400" dirty="0"/>
          </a:p>
        </p:txBody>
      </p:sp>
    </p:spTree>
    <p:extLst>
      <p:ext uri="{BB962C8B-B14F-4D97-AF65-F5344CB8AC3E}">
        <p14:creationId xmlns:p14="http://schemas.microsoft.com/office/powerpoint/2010/main" val="2490780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0067C544-8A65-9B0C-8983-0493AC0C7E6F}"/>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A830351-3702-2493-F729-A8ABC0E12B1F}"/>
              </a:ext>
            </a:extLst>
          </p:cNvPr>
          <p:cNvSpPr>
            <a:spLocks noGrp="1"/>
          </p:cNvSpPr>
          <p:nvPr>
            <p:ph type="title"/>
          </p:nvPr>
        </p:nvSpPr>
        <p:spPr>
          <a:xfrm>
            <a:off x="8911724" y="0"/>
            <a:ext cx="3305195" cy="1400530"/>
          </a:xfrm>
        </p:spPr>
        <p:txBody>
          <a:bodyPr>
            <a:normAutofit/>
          </a:bodyPr>
          <a:lstStyle/>
          <a:p>
            <a:pPr>
              <a:lnSpc>
                <a:spcPct val="90000"/>
              </a:lnSpc>
            </a:pPr>
            <a:r>
              <a:rPr lang="en-US" sz="1800" b="1" dirty="0"/>
              <a:t>The code of the experiment</a:t>
            </a:r>
            <a:r>
              <a:rPr lang="he-IL" sz="1800" b="1" dirty="0"/>
              <a:t> </a:t>
            </a:r>
            <a:br>
              <a:rPr lang="en-US" sz="1800" b="1" dirty="0"/>
            </a:br>
            <a:r>
              <a:rPr lang="en-US" sz="1800" b="1" dirty="0"/>
              <a:t>step 2:</a:t>
            </a:r>
            <a:endParaRPr lang="he-IL" sz="1800" dirty="0"/>
          </a:p>
        </p:txBody>
      </p:sp>
      <p:cxnSp>
        <p:nvCxnSpPr>
          <p:cNvPr id="14" name="Straight Connector 14">
            <a:extLst>
              <a:ext uri="{FF2B5EF4-FFF2-40B4-BE49-F238E27FC236}">
                <a16:creationId xmlns:a16="http://schemas.microsoft.com/office/drawing/2014/main" id="{A8C48A48-4BAC-4484-AA23-1963FCBB9D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047205" y="4233670"/>
            <a:ext cx="0" cy="2623867"/>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Straight Connector 16">
            <a:extLst>
              <a:ext uri="{FF2B5EF4-FFF2-40B4-BE49-F238E27FC236}">
                <a16:creationId xmlns:a16="http://schemas.microsoft.com/office/drawing/2014/main" id="{3A7E7BC8-FA73-4AA8-96DB-4ACDFCDF02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233670"/>
            <a:ext cx="609441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 name="מציין מיקום תוכן 2">
            <a:extLst>
              <a:ext uri="{FF2B5EF4-FFF2-40B4-BE49-F238E27FC236}">
                <a16:creationId xmlns:a16="http://schemas.microsoft.com/office/drawing/2014/main" id="{443F8684-2E5D-67DA-9D94-9D25A28C044F}"/>
              </a:ext>
            </a:extLst>
          </p:cNvPr>
          <p:cNvSpPr>
            <a:spLocks noGrp="1"/>
          </p:cNvSpPr>
          <p:nvPr>
            <p:ph idx="1"/>
          </p:nvPr>
        </p:nvSpPr>
        <p:spPr>
          <a:xfrm>
            <a:off x="8884330" y="562330"/>
            <a:ext cx="3304515" cy="4195481"/>
          </a:xfrm>
        </p:spPr>
        <p:txBody>
          <a:bodyPr>
            <a:noAutofit/>
          </a:bodyPr>
          <a:lstStyle/>
          <a:p>
            <a:pPr algn="l">
              <a:lnSpc>
                <a:spcPct val="90000"/>
              </a:lnSpc>
            </a:pPr>
            <a:r>
              <a:rPr lang="en-US" sz="1050" b="1" dirty="0"/>
              <a:t>In this second part, we extend the previous model by allowing the wavelet filters from the scattering transform to become trainable, while keeping the linear classifier frozen. Here's how it works:</a:t>
            </a:r>
          </a:p>
          <a:p>
            <a:pPr algn="l">
              <a:lnSpc>
                <a:spcPct val="90000"/>
              </a:lnSpc>
            </a:pPr>
            <a:r>
              <a:rPr lang="en-US" sz="1050" b="1" dirty="0"/>
              <a:t>Trainable Scattering Filters: The wavelet filters, phi and psi, are converted into trainable parameters by wrapping them with </a:t>
            </a:r>
            <a:r>
              <a:rPr lang="en-US" sz="1050" b="1" dirty="0" err="1"/>
              <a:t>Pytorch’s</a:t>
            </a:r>
            <a:r>
              <a:rPr lang="en-US" sz="1050" b="1" dirty="0"/>
              <a:t> </a:t>
            </a:r>
            <a:r>
              <a:rPr lang="en-US" sz="1050" b="1" dirty="0" err="1"/>
              <a:t>nn</a:t>
            </a:r>
            <a:r>
              <a:rPr lang="en-US" sz="1050" b="1" dirty="0"/>
              <a:t>. Parameter. This allows the filters to be optimized using the dataset, unlike the fixed filters in Step 1.</a:t>
            </a:r>
          </a:p>
          <a:p>
            <a:pPr algn="l">
              <a:lnSpc>
                <a:spcPct val="90000"/>
              </a:lnSpc>
            </a:pPr>
            <a:r>
              <a:rPr lang="en-US" sz="1050" b="1" dirty="0"/>
              <a:t>The scattering transform is still applied, but the filters now adjust based on the data.</a:t>
            </a:r>
          </a:p>
          <a:p>
            <a:pPr algn="l">
              <a:lnSpc>
                <a:spcPct val="90000"/>
              </a:lnSpc>
            </a:pPr>
            <a:r>
              <a:rPr lang="en-US" sz="1050" b="1" dirty="0"/>
              <a:t>Frozen Classifier : The classifier from Step 1 is loaded and frozen. Its weights are inherited from the model trained in the first step, and no further updates are made to the classifier during training. This allows us to focus on how much the wavelet filters change when trained.</a:t>
            </a:r>
          </a:p>
          <a:p>
            <a:pPr algn="l">
              <a:lnSpc>
                <a:spcPct val="90000"/>
              </a:lnSpc>
            </a:pPr>
            <a:r>
              <a:rPr lang="en-US" sz="1050" b="1" dirty="0"/>
              <a:t>Training Process : We train the model on MNIST using the Adam optimizer for 3 epochs, similar to Step 1. This time, however, only the scattering filters are trained, while the classifier stays frozen. During training, we track the weight changes of the wavelet filters to measure how much they deviate from their initial values.</a:t>
            </a:r>
          </a:p>
          <a:p>
            <a:pPr algn="l">
              <a:lnSpc>
                <a:spcPct val="90000"/>
              </a:lnSpc>
            </a:pPr>
            <a:r>
              <a:rPr lang="en-US" sz="1050" b="1" dirty="0"/>
              <a:t>Tracking Changes : At the end of each epoch, we calculate how much the trained filters have changed compared to their initial scattering filter values. This is recorded as part of the experiment to understand how far the model deviates from the original scattering transform.</a:t>
            </a:r>
            <a:endParaRPr lang="he-IL" sz="1050" b="1" dirty="0"/>
          </a:p>
        </p:txBody>
      </p:sp>
      <p:pic>
        <p:nvPicPr>
          <p:cNvPr id="19" name="תמונה 18">
            <a:extLst>
              <a:ext uri="{FF2B5EF4-FFF2-40B4-BE49-F238E27FC236}">
                <a16:creationId xmlns:a16="http://schemas.microsoft.com/office/drawing/2014/main" id="{3B9016D1-A685-4A5E-FF72-C64BF98A0E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0561"/>
            <a:ext cx="4974770" cy="3641554"/>
          </a:xfrm>
          <a:prstGeom prst="rect">
            <a:avLst/>
          </a:prstGeom>
        </p:spPr>
      </p:pic>
      <p:pic>
        <p:nvPicPr>
          <p:cNvPr id="21" name="תמונה 20">
            <a:extLst>
              <a:ext uri="{FF2B5EF4-FFF2-40B4-BE49-F238E27FC236}">
                <a16:creationId xmlns:a16="http://schemas.microsoft.com/office/drawing/2014/main" id="{63AB6D71-166D-2FE7-DD17-FFA9153F19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55" y="3541683"/>
            <a:ext cx="5045353" cy="3316317"/>
          </a:xfrm>
          <a:prstGeom prst="rect">
            <a:avLst/>
          </a:prstGeom>
        </p:spPr>
      </p:pic>
      <p:pic>
        <p:nvPicPr>
          <p:cNvPr id="27" name="תמונה 26">
            <a:extLst>
              <a:ext uri="{FF2B5EF4-FFF2-40B4-BE49-F238E27FC236}">
                <a16:creationId xmlns:a16="http://schemas.microsoft.com/office/drawing/2014/main" id="{7F020CA4-4C64-05BA-DA7A-A345D3FBAA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74771" y="50701"/>
            <a:ext cx="3838957" cy="5478659"/>
          </a:xfrm>
          <a:prstGeom prst="rect">
            <a:avLst/>
          </a:prstGeom>
        </p:spPr>
      </p:pic>
    </p:spTree>
    <p:extLst>
      <p:ext uri="{BB962C8B-B14F-4D97-AF65-F5344CB8AC3E}">
        <p14:creationId xmlns:p14="http://schemas.microsoft.com/office/powerpoint/2010/main" val="1586950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A378145B-77F8-3CCA-AABA-6C86ECB655F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B2A9795-9B53-4B59-8E67-86983721FF33}"/>
              </a:ext>
            </a:extLst>
          </p:cNvPr>
          <p:cNvSpPr>
            <a:spLocks noGrp="1"/>
          </p:cNvSpPr>
          <p:nvPr>
            <p:ph type="title"/>
          </p:nvPr>
        </p:nvSpPr>
        <p:spPr>
          <a:xfrm>
            <a:off x="635459" y="4630826"/>
            <a:ext cx="9164206" cy="831400"/>
          </a:xfrm>
        </p:spPr>
        <p:txBody>
          <a:bodyPr>
            <a:normAutofit/>
          </a:bodyPr>
          <a:lstStyle/>
          <a:p>
            <a:pPr>
              <a:lnSpc>
                <a:spcPct val="90000"/>
              </a:lnSpc>
            </a:pPr>
            <a:r>
              <a:rPr lang="en-US" sz="1400" b="1" dirty="0"/>
              <a:t>The code of the experiment</a:t>
            </a:r>
            <a:r>
              <a:rPr lang="he-IL" sz="1400" b="1" dirty="0"/>
              <a:t> </a:t>
            </a:r>
            <a:br>
              <a:rPr lang="en-US" sz="1400" b="1" dirty="0"/>
            </a:br>
            <a:r>
              <a:rPr lang="en-US" sz="1400" b="1" dirty="0"/>
              <a:t>step 3:</a:t>
            </a:r>
            <a:endParaRPr lang="he-IL" sz="1400" dirty="0"/>
          </a:p>
        </p:txBody>
      </p:sp>
      <p:sp>
        <p:nvSpPr>
          <p:cNvPr id="3" name="מציין מיקום תוכן 2">
            <a:extLst>
              <a:ext uri="{FF2B5EF4-FFF2-40B4-BE49-F238E27FC236}">
                <a16:creationId xmlns:a16="http://schemas.microsoft.com/office/drawing/2014/main" id="{0FA52A4C-7BBC-F860-A0A2-00744300D032}"/>
              </a:ext>
            </a:extLst>
          </p:cNvPr>
          <p:cNvSpPr>
            <a:spLocks noGrp="1"/>
          </p:cNvSpPr>
          <p:nvPr>
            <p:ph idx="1"/>
          </p:nvPr>
        </p:nvSpPr>
        <p:spPr>
          <a:xfrm>
            <a:off x="635459" y="5163378"/>
            <a:ext cx="9164206" cy="1316931"/>
          </a:xfrm>
        </p:spPr>
        <p:txBody>
          <a:bodyPr>
            <a:normAutofit/>
          </a:bodyPr>
          <a:lstStyle/>
          <a:p>
            <a:pPr>
              <a:lnSpc>
                <a:spcPct val="90000"/>
              </a:lnSpc>
            </a:pPr>
            <a:r>
              <a:rPr lang="en-US" sz="1000" dirty="0"/>
              <a:t>Step 3: Training with Random Filters and Frozen </a:t>
            </a:r>
            <a:r>
              <a:rPr lang="en-US" sz="1000"/>
              <a:t>Classifier in </a:t>
            </a:r>
            <a:r>
              <a:rPr lang="en-US" sz="1000" dirty="0"/>
              <a:t>this final phase, we replace the wavelet filters with randomly initialized filters, while keeping the classifier frozen, similar to the previous step. </a:t>
            </a:r>
          </a:p>
          <a:p>
            <a:pPr>
              <a:lnSpc>
                <a:spcPct val="90000"/>
              </a:lnSpc>
            </a:pPr>
            <a:r>
              <a:rPr lang="en-US" sz="1000" dirty="0"/>
              <a:t>This allows us to compare the performance of random filters to that of the wavelet-based scattering filters.</a:t>
            </a:r>
          </a:p>
          <a:p>
            <a:pPr>
              <a:lnSpc>
                <a:spcPct val="90000"/>
              </a:lnSpc>
            </a:pPr>
            <a:r>
              <a:rPr lang="en-US" sz="1000" dirty="0"/>
              <a:t>Random Initialization of Filters: Instead of using pre-defined wavelet filters, we initialize the filters (phi and psi levels) with random values. These random filters will be trained to optimize the model’s performance on MNIST.</a:t>
            </a:r>
          </a:p>
          <a:p>
            <a:pPr>
              <a:lnSpc>
                <a:spcPct val="90000"/>
              </a:lnSpc>
            </a:pPr>
            <a:r>
              <a:rPr lang="en-US" sz="1000" dirty="0"/>
              <a:t>The model structure remains the same, but the filters start with random values, behaving like a traditional CNN.</a:t>
            </a:r>
            <a:endParaRPr lang="he-IL" sz="1000" dirty="0"/>
          </a:p>
        </p:txBody>
      </p:sp>
      <p:pic>
        <p:nvPicPr>
          <p:cNvPr id="12" name="תמונה 11" descr="תמונה שמכילה טקסט, צילום מסך, תוכנה&#10;&#10;התיאור נוצר באופן אוטומטי">
            <a:extLst>
              <a:ext uri="{FF2B5EF4-FFF2-40B4-BE49-F238E27FC236}">
                <a16:creationId xmlns:a16="http://schemas.microsoft.com/office/drawing/2014/main" id="{732FC4B5-3C78-2729-DC52-8E018D25D8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254104" cy="2969887"/>
          </a:xfrm>
          <a:prstGeom prst="rect">
            <a:avLst/>
          </a:prstGeom>
        </p:spPr>
      </p:pic>
      <p:pic>
        <p:nvPicPr>
          <p:cNvPr id="14" name="תמונה 13" descr="תמונה שמכילה טקסט, צילום מסך, גופן&#10;&#10;התיאור נוצר באופן אוטומטי">
            <a:extLst>
              <a:ext uri="{FF2B5EF4-FFF2-40B4-BE49-F238E27FC236}">
                <a16:creationId xmlns:a16="http://schemas.microsoft.com/office/drawing/2014/main" id="{5E76007D-9D45-DACC-CB60-C5C687F413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4104" y="-3309"/>
            <a:ext cx="4706649" cy="2856344"/>
          </a:xfrm>
          <a:prstGeom prst="rect">
            <a:avLst/>
          </a:prstGeom>
        </p:spPr>
      </p:pic>
      <p:pic>
        <p:nvPicPr>
          <p:cNvPr id="20" name="תמונה 19" descr="תמונה שמכילה טקסט, צילום מסך, תוכנה&#10;&#10;התיאור נוצר באופן אוטומטי">
            <a:extLst>
              <a:ext uri="{FF2B5EF4-FFF2-40B4-BE49-F238E27FC236}">
                <a16:creationId xmlns:a16="http://schemas.microsoft.com/office/drawing/2014/main" id="{548157D0-344A-27C2-D17A-ABD32A43F5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4103" y="2764560"/>
            <a:ext cx="5302437" cy="2398818"/>
          </a:xfrm>
          <a:prstGeom prst="rect">
            <a:avLst/>
          </a:prstGeom>
        </p:spPr>
      </p:pic>
    </p:spTree>
    <p:extLst>
      <p:ext uri="{BB962C8B-B14F-4D97-AF65-F5344CB8AC3E}">
        <p14:creationId xmlns:p14="http://schemas.microsoft.com/office/powerpoint/2010/main" val="4057209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E2158-6D20-4377-23D1-27ED11BF77D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CA751C2-3CF7-4C84-534F-30628998074F}"/>
              </a:ext>
            </a:extLst>
          </p:cNvPr>
          <p:cNvSpPr>
            <a:spLocks noGrp="1"/>
          </p:cNvSpPr>
          <p:nvPr>
            <p:ph type="title"/>
          </p:nvPr>
        </p:nvSpPr>
        <p:spPr>
          <a:xfrm>
            <a:off x="250371" y="0"/>
            <a:ext cx="9404723" cy="1400530"/>
          </a:xfrm>
        </p:spPr>
        <p:txBody>
          <a:bodyPr/>
          <a:lstStyle/>
          <a:p>
            <a:r>
              <a:rPr lang="en-US"/>
              <a:t>Results</a:t>
            </a:r>
            <a:endParaRPr lang="he-IL" dirty="0"/>
          </a:p>
        </p:txBody>
      </p:sp>
      <p:sp>
        <p:nvSpPr>
          <p:cNvPr id="3" name="מציין מיקום תוכן 2">
            <a:extLst>
              <a:ext uri="{FF2B5EF4-FFF2-40B4-BE49-F238E27FC236}">
                <a16:creationId xmlns:a16="http://schemas.microsoft.com/office/drawing/2014/main" id="{B50CA1A3-FA3C-7438-D867-EC8C5AC22795}"/>
              </a:ext>
            </a:extLst>
          </p:cNvPr>
          <p:cNvSpPr>
            <a:spLocks noGrp="1"/>
          </p:cNvSpPr>
          <p:nvPr>
            <p:ph idx="1"/>
          </p:nvPr>
        </p:nvSpPr>
        <p:spPr>
          <a:xfrm>
            <a:off x="-94115" y="1179385"/>
            <a:ext cx="6484029" cy="5569758"/>
          </a:xfrm>
        </p:spPr>
        <p:txBody>
          <a:bodyPr>
            <a:normAutofit/>
          </a:bodyPr>
          <a:lstStyle/>
          <a:p>
            <a:pPr algn="l"/>
            <a:r>
              <a:rPr lang="en-US" sz="1400" dirty="0"/>
              <a:t>The model is trained with a fixed scattering transform, and performance improves with each epoch, achieving high accuracy by the third epoch.</a:t>
            </a:r>
            <a:endParaRPr lang="he-IL" sz="1400" dirty="0"/>
          </a:p>
          <a:p>
            <a:pPr algn="l"/>
            <a:endParaRPr lang="he-IL" sz="1400" dirty="0"/>
          </a:p>
          <a:p>
            <a:pPr marL="0" indent="0" algn="l">
              <a:buNone/>
            </a:pPr>
            <a:r>
              <a:rPr lang="en-US" sz="1400" dirty="0"/>
              <a:t>This model allows wavelet filters to be trainable. The accuracy is quite high from the start, and there is a </a:t>
            </a:r>
            <a:r>
              <a:rPr lang="en-US" sz="1400" dirty="0" err="1"/>
              <a:t>a</a:t>
            </a:r>
            <a:r>
              <a:rPr lang="en-US" sz="1400" dirty="0"/>
              <a:t> little bit L1 norm weights changes and a </a:t>
            </a:r>
            <a:r>
              <a:rPr lang="en-US" sz="1400" dirty="0" err="1"/>
              <a:t>relateve</a:t>
            </a:r>
            <a:r>
              <a:rPr lang="en-US" sz="1400" dirty="0"/>
              <a:t> weights changes are  bigger and around 20-70 This model starts with random scattering wavelets, resulting in a much lower accuracy initially, but quickly improves with training, achieving  accuracy by the third epoch. The weight changes here are much larger than in the trainable scattering transform case and the relative changes here are much bigger ( around 7-5 times bigger)</a:t>
            </a:r>
            <a:endParaRPr lang="he-IL" sz="1400" dirty="0"/>
          </a:p>
          <a:p>
            <a:pPr algn="l"/>
            <a:r>
              <a:rPr lang="en-US" sz="1400" dirty="0"/>
              <a:t>Note: every time you run the code the changes are different, but the difference are minor </a:t>
            </a:r>
            <a:endParaRPr lang="he-IL" sz="1400" dirty="0"/>
          </a:p>
          <a:p>
            <a:pPr algn="l"/>
            <a:r>
              <a:rPr lang="en-US" sz="1400" dirty="0"/>
              <a:t> </a:t>
            </a:r>
          </a:p>
          <a:p>
            <a:pPr algn="l"/>
            <a:r>
              <a:rPr lang="en-US" sz="1400" dirty="0"/>
              <a:t>The metric :</a:t>
            </a:r>
          </a:p>
          <a:p>
            <a:pPr algn="l"/>
            <a:endParaRPr lang="en-US" sz="1400" dirty="0"/>
          </a:p>
          <a:p>
            <a:pPr algn="l"/>
            <a:endParaRPr lang="en-US" sz="1400" dirty="0"/>
          </a:p>
        </p:txBody>
      </p:sp>
      <p:pic>
        <p:nvPicPr>
          <p:cNvPr id="5" name="תמונה 4" descr="תמונה שמכילה טקסט, צילום מסך, גופן&#10;&#10;התיאור נוצר באופן אוטומטי">
            <a:extLst>
              <a:ext uri="{FF2B5EF4-FFF2-40B4-BE49-F238E27FC236}">
                <a16:creationId xmlns:a16="http://schemas.microsoft.com/office/drawing/2014/main" id="{4AFB3F5B-A4B8-3A45-F69F-47BC55F426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89291"/>
            <a:ext cx="4330821" cy="1035091"/>
          </a:xfrm>
          <a:prstGeom prst="rect">
            <a:avLst/>
          </a:prstGeom>
        </p:spPr>
      </p:pic>
      <p:pic>
        <p:nvPicPr>
          <p:cNvPr id="15" name="תמונה 14" descr="תמונה שמכילה טקסט, גופן, צילום מסך&#10;&#10;התיאור נוצר באופן אוטומטי">
            <a:extLst>
              <a:ext uri="{FF2B5EF4-FFF2-40B4-BE49-F238E27FC236}">
                <a16:creationId xmlns:a16="http://schemas.microsoft.com/office/drawing/2014/main" id="{B443CEF2-C4A7-E919-E04A-FA4B117172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2315" y="978877"/>
            <a:ext cx="5066469" cy="1043622"/>
          </a:xfrm>
          <a:prstGeom prst="rect">
            <a:avLst/>
          </a:prstGeom>
        </p:spPr>
      </p:pic>
      <p:pic>
        <p:nvPicPr>
          <p:cNvPr id="6" name="תמונה 5" descr="תמונה שמכילה טקסט, צילום מסך, גופן, מידע&#10;&#10;התיאור נוצר באופן אוטומטי">
            <a:extLst>
              <a:ext uri="{FF2B5EF4-FFF2-40B4-BE49-F238E27FC236}">
                <a16:creationId xmlns:a16="http://schemas.microsoft.com/office/drawing/2014/main" id="{CA8F37F6-3F27-1C64-8BC4-26BA1DD474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2315" y="2245156"/>
            <a:ext cx="5649685" cy="901652"/>
          </a:xfrm>
          <a:prstGeom prst="rect">
            <a:avLst/>
          </a:prstGeom>
        </p:spPr>
      </p:pic>
      <p:pic>
        <p:nvPicPr>
          <p:cNvPr id="8" name="תמונה 7">
            <a:extLst>
              <a:ext uri="{FF2B5EF4-FFF2-40B4-BE49-F238E27FC236}">
                <a16:creationId xmlns:a16="http://schemas.microsoft.com/office/drawing/2014/main" id="{FAEAE31F-38BE-67C6-E1FD-6DA08467A0B4}"/>
              </a:ext>
            </a:extLst>
          </p:cNvPr>
          <p:cNvPicPr>
            <a:picLocks noChangeAspect="1"/>
          </p:cNvPicPr>
          <p:nvPr/>
        </p:nvPicPr>
        <p:blipFill>
          <a:blip r:embed="rId5"/>
          <a:stretch>
            <a:fillRect/>
          </a:stretch>
        </p:blipFill>
        <p:spPr>
          <a:xfrm>
            <a:off x="6389914" y="3420168"/>
            <a:ext cx="5688430" cy="1315118"/>
          </a:xfrm>
          <a:prstGeom prst="rect">
            <a:avLst/>
          </a:prstGeom>
        </p:spPr>
      </p:pic>
      <p:pic>
        <p:nvPicPr>
          <p:cNvPr id="11" name="תמונה 10" descr="תמונה שמכילה טקסט, צילום מסך, גופן">
            <a:extLst>
              <a:ext uri="{FF2B5EF4-FFF2-40B4-BE49-F238E27FC236}">
                <a16:creationId xmlns:a16="http://schemas.microsoft.com/office/drawing/2014/main" id="{FCEEC0AE-8951-2D7E-87ED-B846AB48A34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11421" y="4888469"/>
            <a:ext cx="5649685" cy="1746008"/>
          </a:xfrm>
          <a:prstGeom prst="rect">
            <a:avLst/>
          </a:prstGeom>
        </p:spPr>
      </p:pic>
    </p:spTree>
    <p:extLst>
      <p:ext uri="{BB962C8B-B14F-4D97-AF65-F5344CB8AC3E}">
        <p14:creationId xmlns:p14="http://schemas.microsoft.com/office/powerpoint/2010/main" val="758490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C3B07-E7B2-7077-D060-B438B8075980}"/>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5716EDB3-207A-E584-80BF-376C24D11132}"/>
              </a:ext>
            </a:extLst>
          </p:cNvPr>
          <p:cNvSpPr>
            <a:spLocks noGrp="1"/>
          </p:cNvSpPr>
          <p:nvPr>
            <p:ph type="title"/>
          </p:nvPr>
        </p:nvSpPr>
        <p:spPr/>
        <p:txBody>
          <a:bodyPr/>
          <a:lstStyle/>
          <a:p>
            <a:r>
              <a:rPr lang="en-US" dirty="0"/>
              <a:t>Conclusion</a:t>
            </a:r>
            <a:endParaRPr lang="he-IL" dirty="0"/>
          </a:p>
        </p:txBody>
      </p:sp>
      <p:sp>
        <p:nvSpPr>
          <p:cNvPr id="3" name="מציין מיקום תוכן 2">
            <a:extLst>
              <a:ext uri="{FF2B5EF4-FFF2-40B4-BE49-F238E27FC236}">
                <a16:creationId xmlns:a16="http://schemas.microsoft.com/office/drawing/2014/main" id="{BAB0871F-0DE5-DBAC-5421-5EA621CD1BE6}"/>
              </a:ext>
            </a:extLst>
          </p:cNvPr>
          <p:cNvSpPr>
            <a:spLocks noGrp="1"/>
          </p:cNvSpPr>
          <p:nvPr>
            <p:ph idx="1"/>
          </p:nvPr>
        </p:nvSpPr>
        <p:spPr>
          <a:xfrm>
            <a:off x="0" y="1853248"/>
            <a:ext cx="12192000" cy="5004752"/>
          </a:xfrm>
        </p:spPr>
        <p:txBody>
          <a:bodyPr/>
          <a:lstStyle/>
          <a:p>
            <a:pPr algn="l" rtl="0"/>
            <a:r>
              <a:rPr lang="en-US" dirty="0"/>
              <a:t>The results of the first model are promising.</a:t>
            </a:r>
            <a:br>
              <a:rPr lang="en-US" dirty="0"/>
            </a:br>
            <a:r>
              <a:rPr lang="en-US" dirty="0"/>
              <a:t>The second model shows even better results, although the changes in the weights (parameters) are minimal.</a:t>
            </a:r>
            <a:br>
              <a:rPr lang="en-US" dirty="0"/>
            </a:br>
            <a:r>
              <a:rPr lang="en-US" dirty="0"/>
              <a:t>In the third model, the results are less favorable, but by the third epoch, the gaps in the results start to narrow. However, the performance of the model with randomly initialized filters (similar to how a traditional CNN works) is still inferior, with more significant changes in the parameters.</a:t>
            </a:r>
            <a:br>
              <a:rPr lang="en-US" dirty="0"/>
            </a:br>
            <a:r>
              <a:rPr lang="en-US" dirty="0"/>
              <a:t>Therefore, there are discrepancies in the parameters when the filters are trained randomly compared to non-random filters. Additionally, when we train the random filters, the parameters differ more significantly compared to when we don’t train them in the first model. This makes sense, as training the non-random filters results in parameters that differ slightly from those in the first model.</a:t>
            </a:r>
            <a:br>
              <a:rPr lang="en-US" dirty="0"/>
            </a:br>
            <a:r>
              <a:rPr lang="en-US" dirty="0"/>
              <a:t>As a result, we observe differences in both the outcomes and the parameters when treating our network in the third part as a traditional CNN.</a:t>
            </a:r>
          </a:p>
          <a:p>
            <a:endParaRPr lang="he-IL" dirty="0"/>
          </a:p>
        </p:txBody>
      </p:sp>
    </p:spTree>
    <p:extLst>
      <p:ext uri="{BB962C8B-B14F-4D97-AF65-F5344CB8AC3E}">
        <p14:creationId xmlns:p14="http://schemas.microsoft.com/office/powerpoint/2010/main" val="2658503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B1CD1-DBE9-3D00-8D66-868F4A8CEBE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7E51DBE-7E36-2175-B4D9-80F4479E60DD}"/>
              </a:ext>
            </a:extLst>
          </p:cNvPr>
          <p:cNvSpPr>
            <a:spLocks noGrp="1"/>
          </p:cNvSpPr>
          <p:nvPr>
            <p:ph type="title"/>
          </p:nvPr>
        </p:nvSpPr>
        <p:spPr/>
        <p:txBody>
          <a:bodyPr/>
          <a:lstStyle/>
          <a:p>
            <a:r>
              <a:rPr lang="en-US" dirty="0"/>
              <a:t>Bibliography</a:t>
            </a:r>
            <a:endParaRPr lang="he-IL" dirty="0"/>
          </a:p>
        </p:txBody>
      </p:sp>
      <p:sp>
        <p:nvSpPr>
          <p:cNvPr id="3" name="מציין מיקום תוכן 2">
            <a:extLst>
              <a:ext uri="{FF2B5EF4-FFF2-40B4-BE49-F238E27FC236}">
                <a16:creationId xmlns:a16="http://schemas.microsoft.com/office/drawing/2014/main" id="{31BF3868-7EA0-E6BC-C1A9-5EFFA54C2967}"/>
              </a:ext>
            </a:extLst>
          </p:cNvPr>
          <p:cNvSpPr>
            <a:spLocks noGrp="1"/>
          </p:cNvSpPr>
          <p:nvPr>
            <p:ph idx="1"/>
          </p:nvPr>
        </p:nvSpPr>
        <p:spPr>
          <a:xfrm>
            <a:off x="0" y="2052918"/>
            <a:ext cx="12192000" cy="4805082"/>
          </a:xfrm>
        </p:spPr>
        <p:txBody>
          <a:bodyPr/>
          <a:lstStyle/>
          <a:p>
            <a:pPr algn="l" rtl="0"/>
            <a:r>
              <a:rPr lang="en-US" dirty="0"/>
              <a:t>1. Lecture notes: Convolutional Networks on Grids and Graphs: Mathematical Analysis from a Signal Processing Perspective , Ron Levie.</a:t>
            </a:r>
          </a:p>
          <a:p>
            <a:pPr algn="l" rtl="0"/>
            <a:r>
              <a:rPr lang="en-US" dirty="0"/>
              <a:t>2. YouTube video: Wavelets-based Feature Extraction - Part2: Wavelet Scattering Transform , Rami </a:t>
            </a:r>
            <a:r>
              <a:rPr lang="en-US" dirty="0" err="1"/>
              <a:t>Khushaba</a:t>
            </a:r>
            <a:r>
              <a:rPr lang="en-US" dirty="0"/>
              <a:t>.</a:t>
            </a:r>
          </a:p>
          <a:p>
            <a:pPr algn="l" rtl="0"/>
            <a:r>
              <a:rPr lang="en-US" dirty="0"/>
              <a:t>3. </a:t>
            </a:r>
            <a:r>
              <a:rPr lang="en-US" dirty="0" err="1"/>
              <a:t>Kymatio</a:t>
            </a:r>
            <a:r>
              <a:rPr lang="en-US" dirty="0"/>
              <a:t>: Scattering Transforms in Python, </a:t>
            </a:r>
            <a:r>
              <a:rPr lang="en-US" dirty="0" err="1"/>
              <a:t>St´ephane</a:t>
            </a:r>
            <a:r>
              <a:rPr lang="en-US" dirty="0"/>
              <a:t> </a:t>
            </a:r>
            <a:r>
              <a:rPr lang="en-US" dirty="0" err="1"/>
              <a:t>Mallat</a:t>
            </a:r>
            <a:r>
              <a:rPr lang="en-US" dirty="0"/>
              <a:t>, Journal of Machine Learning Research 21 (2020) 1-6.</a:t>
            </a:r>
          </a:p>
          <a:p>
            <a:pPr algn="l" rtl="0"/>
            <a:r>
              <a:rPr lang="en-US" dirty="0"/>
              <a:t>4. Generic Deep Networks with Wavelet Scattering, Edouard </a:t>
            </a:r>
            <a:r>
              <a:rPr lang="en-US" dirty="0" err="1"/>
              <a:t>Oyallon</a:t>
            </a:r>
            <a:r>
              <a:rPr lang="en-US" dirty="0"/>
              <a:t>, Stephane </a:t>
            </a:r>
            <a:r>
              <a:rPr lang="en-US" dirty="0" err="1"/>
              <a:t>Mallat</a:t>
            </a:r>
            <a:r>
              <a:rPr lang="en-US" dirty="0"/>
              <a:t>, Laurent </a:t>
            </a:r>
            <a:r>
              <a:rPr lang="en-US" dirty="0" err="1"/>
              <a:t>Sifre</a:t>
            </a:r>
            <a:r>
              <a:rPr lang="en-US" dirty="0"/>
              <a:t>, </a:t>
            </a:r>
            <a:r>
              <a:rPr lang="fr-FR" dirty="0"/>
              <a:t>Ecole Normale </a:t>
            </a:r>
            <a:r>
              <a:rPr lang="fr-FR" dirty="0" err="1"/>
              <a:t>Sup´erieure</a:t>
            </a:r>
            <a:r>
              <a:rPr lang="fr-FR" dirty="0"/>
              <a:t>, 45 rue d’Ulm, 75005 Paris, France</a:t>
            </a:r>
            <a:r>
              <a:rPr lang="en-US" dirty="0"/>
              <a:t> 2014.</a:t>
            </a:r>
          </a:p>
          <a:p>
            <a:pPr algn="l" rtl="0"/>
            <a:r>
              <a:rPr lang="en-US" dirty="0"/>
              <a:t>5. Invariant Scattering Convolution Networks, Joan Bruna &amp; Stephane </a:t>
            </a:r>
            <a:r>
              <a:rPr lang="en-US" dirty="0" err="1"/>
              <a:t>Mallat</a:t>
            </a:r>
            <a:r>
              <a:rPr lang="en-US" dirty="0"/>
              <a:t>, 2012.</a:t>
            </a:r>
          </a:p>
          <a:p>
            <a:pPr algn="l" rtl="0"/>
            <a:r>
              <a:rPr lang="en-US" dirty="0"/>
              <a:t>6. An Introduction to Convolutional Neural Networks, Keiron O’Shea &amp; Ryan Nash 2, 2015.</a:t>
            </a:r>
            <a:endParaRPr lang="he-IL" dirty="0"/>
          </a:p>
        </p:txBody>
      </p:sp>
    </p:spTree>
    <p:extLst>
      <p:ext uri="{BB962C8B-B14F-4D97-AF65-F5344CB8AC3E}">
        <p14:creationId xmlns:p14="http://schemas.microsoft.com/office/powerpoint/2010/main" val="12283411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יונים">
  <a:themeElements>
    <a:clrScheme name="יונים">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יונים">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יונים">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6314</TotalTime>
  <Words>1677</Words>
  <Application>Microsoft Office PowerPoint</Application>
  <PresentationFormat>מסך רחב</PresentationFormat>
  <Paragraphs>85</Paragraphs>
  <Slides>13</Slides>
  <Notes>0</Notes>
  <HiddenSlides>0</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13</vt:i4>
      </vt:variant>
    </vt:vector>
  </HeadingPairs>
  <TitlesOfParts>
    <vt:vector size="16" baseType="lpstr">
      <vt:lpstr>Century Gothic</vt:lpstr>
      <vt:lpstr>Wingdings 3</vt:lpstr>
      <vt:lpstr>יונים</vt:lpstr>
      <vt:lpstr>Bridging the Gap Between the Scattering Transform and Trainable CNNs</vt:lpstr>
      <vt:lpstr>Wavelet scattering transform and why</vt:lpstr>
      <vt:lpstr>Summery of the Architecture and Properties</vt:lpstr>
      <vt:lpstr>Convolutional vs. Scattering Network</vt:lpstr>
      <vt:lpstr>Convolutional vs. Scattering Network</vt:lpstr>
      <vt:lpstr>The experiment Overview: Exploring Wavelet Scattering as CNN Initialization </vt:lpstr>
      <vt:lpstr>Experiment Breakdown</vt:lpstr>
      <vt:lpstr>The code of the experiment  step 1: </vt:lpstr>
      <vt:lpstr>The code of the experiment  step 2:</vt:lpstr>
      <vt:lpstr>The code of the experiment  step 3:</vt:lpstr>
      <vt:lpstr>Results</vt:lpstr>
      <vt:lpstr>Conclusion</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Yakov Mishayev</dc:creator>
  <cp:lastModifiedBy>Yakov Mishayev</cp:lastModifiedBy>
  <cp:revision>13</cp:revision>
  <dcterms:created xsi:type="dcterms:W3CDTF">2024-10-22T19:44:00Z</dcterms:created>
  <dcterms:modified xsi:type="dcterms:W3CDTF">2024-10-28T16:47:34Z</dcterms:modified>
</cp:coreProperties>
</file>